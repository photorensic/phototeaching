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xml" ContentType="application/vnd.openxmlformats-officedocument.presentationml.tags+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412" r:id="rId2"/>
    <p:sldId id="557" r:id="rId3"/>
    <p:sldId id="379" r:id="rId4"/>
    <p:sldId id="368" r:id="rId5"/>
    <p:sldId id="400" r:id="rId6"/>
    <p:sldId id="401" r:id="rId7"/>
    <p:sldId id="589" r:id="rId8"/>
    <p:sldId id="365" r:id="rId9"/>
    <p:sldId id="574" r:id="rId10"/>
    <p:sldId id="590" r:id="rId11"/>
    <p:sldId id="569" r:id="rId12"/>
    <p:sldId id="378" r:id="rId13"/>
    <p:sldId id="588" r:id="rId14"/>
    <p:sldId id="369" r:id="rId15"/>
    <p:sldId id="591" r:id="rId16"/>
    <p:sldId id="370" r:id="rId17"/>
    <p:sldId id="381" r:id="rId18"/>
    <p:sldId id="398" r:id="rId19"/>
    <p:sldId id="399" r:id="rId20"/>
    <p:sldId id="587" r:id="rId21"/>
    <p:sldId id="575" r:id="rId22"/>
    <p:sldId id="576" r:id="rId23"/>
    <p:sldId id="594" r:id="rId24"/>
    <p:sldId id="579" r:id="rId25"/>
    <p:sldId id="595" r:id="rId26"/>
    <p:sldId id="5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282E"/>
    <a:srgbClr val="999999"/>
    <a:srgbClr val="9928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88D102-49A0-4359-90CB-B5D1B587FFED}" type="datetimeFigureOut">
              <a:rPr lang="en-US" smtClean="0"/>
              <a:t>2/19/2026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8162B8-C138-4E81-8A15-B2DD8EFA1CBA}" type="slidenum">
              <a:rPr lang="en-US" smtClean="0"/>
              <a:t>‹Nr.›</a:t>
            </a:fld>
            <a:endParaRPr lang="en-US"/>
          </a:p>
        </p:txBody>
      </p:sp>
    </p:spTree>
    <p:extLst>
      <p:ext uri="{BB962C8B-B14F-4D97-AF65-F5344CB8AC3E}">
        <p14:creationId xmlns:p14="http://schemas.microsoft.com/office/powerpoint/2010/main" val="2428449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lienbildplatzhalter 1">
            <a:extLst>
              <a:ext uri="{FF2B5EF4-FFF2-40B4-BE49-F238E27FC236}">
                <a16:creationId xmlns:a16="http://schemas.microsoft.com/office/drawing/2014/main" id="{8112122D-B603-C599-FA33-BE6CF4FB33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izenplatzhalter 2">
            <a:extLst>
              <a:ext uri="{FF2B5EF4-FFF2-40B4-BE49-F238E27FC236}">
                <a16:creationId xmlns:a16="http://schemas.microsoft.com/office/drawing/2014/main" id="{76583B22-BE82-9E94-2554-D864F531C2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CH" altLang="de-DE"/>
          </a:p>
          <a:p>
            <a:endParaRPr lang="de-CH" altLang="de-DE"/>
          </a:p>
          <a:p>
            <a:endParaRPr lang="de-CH" altLang="de-DE"/>
          </a:p>
          <a:p>
            <a:endParaRPr lang="de-CH" altLang="de-DE"/>
          </a:p>
          <a:p>
            <a:endParaRPr lang="de-CH" altLang="de-DE"/>
          </a:p>
        </p:txBody>
      </p:sp>
      <p:sp>
        <p:nvSpPr>
          <p:cNvPr id="22531" name="Foliennummernplatzhalter 3">
            <a:extLst>
              <a:ext uri="{FF2B5EF4-FFF2-40B4-BE49-F238E27FC236}">
                <a16:creationId xmlns:a16="http://schemas.microsoft.com/office/drawing/2014/main" id="{F37C3FB1-2019-1F45-F950-544CDE681B5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D604E1-4984-4E4F-843D-F9748AFC5BB0}" type="slidenum">
              <a:rPr lang="en-GB" altLang="de-DE" smtClean="0"/>
              <a:pPr>
                <a:spcBef>
                  <a:spcPct val="0"/>
                </a:spcBef>
              </a:pPr>
              <a:t>1</a:t>
            </a:fld>
            <a:endParaRPr lang="en-GB" alt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lienbildplatzhalter 1">
            <a:extLst>
              <a:ext uri="{FF2B5EF4-FFF2-40B4-BE49-F238E27FC236}">
                <a16:creationId xmlns:a16="http://schemas.microsoft.com/office/drawing/2014/main" id="{1617FF44-3B8B-F74A-ABC8-9755C9D0CE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izenplatzhalter 2">
            <a:extLst>
              <a:ext uri="{FF2B5EF4-FFF2-40B4-BE49-F238E27FC236}">
                <a16:creationId xmlns:a16="http://schemas.microsoft.com/office/drawing/2014/main" id="{57506659-5F70-C63C-642E-06DFDB6CD8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Das allgemeingültige Ziel der forensischen Fotografie damals wie heute: Befunde sollen in hoher technischer Qualität exakt und nachvollziehbar dokumentiert werden.</a:t>
            </a:r>
          </a:p>
        </p:txBody>
      </p:sp>
      <p:sp>
        <p:nvSpPr>
          <p:cNvPr id="24579" name="Foliennummernplatzhalter 3">
            <a:extLst>
              <a:ext uri="{FF2B5EF4-FFF2-40B4-BE49-F238E27FC236}">
                <a16:creationId xmlns:a16="http://schemas.microsoft.com/office/drawing/2014/main" id="{D746010C-B368-73C8-B709-148EE04B82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DEE9634-D21A-354D-9D2A-02F1BAC48C45}" type="slidenum">
              <a:rPr lang="en-GB" altLang="de-DE" smtClean="0"/>
              <a:pPr>
                <a:spcBef>
                  <a:spcPct val="0"/>
                </a:spcBef>
              </a:pPr>
              <a:t>2</a:t>
            </a:fld>
            <a:endParaRPr lang="en-GB" alt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lienbildplatzhalter 1">
            <a:extLst>
              <a:ext uri="{FF2B5EF4-FFF2-40B4-BE49-F238E27FC236}">
                <a16:creationId xmlns:a16="http://schemas.microsoft.com/office/drawing/2014/main" id="{64FD463C-0EFD-33E0-AE47-FC41EB8003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izenplatzhalter 2">
            <a:extLst>
              <a:ext uri="{FF2B5EF4-FFF2-40B4-BE49-F238E27FC236}">
                <a16:creationId xmlns:a16="http://schemas.microsoft.com/office/drawing/2014/main" id="{5214182D-9ADC-B7C1-3362-8F3D5207B0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Wenden wir uns jetzt der Exaktheit zu.</a:t>
            </a:r>
          </a:p>
          <a:p>
            <a:endParaRPr lang="de-CH" altLang="de-DE"/>
          </a:p>
          <a:p>
            <a:r>
              <a:rPr lang="de-CH" altLang="de-DE"/>
              <a:t>Dazu gehört die Vermeidung von perspektivischen Abbildungsfehlern wie, hier zu sehen, Bildverzerrungen.</a:t>
            </a:r>
          </a:p>
          <a:p>
            <a:endParaRPr lang="de-CH" altLang="de-DE"/>
          </a:p>
          <a:p>
            <a:r>
              <a:rPr lang="de-CH" altLang="de-DE"/>
              <a:t>Im Bild links sehen wir eine deutliche Überproportionierung der unteren Extremitäten mit Verjüngung des Oberkörpers durch schräge, fussseitige Kameraposition. Das nennt man Froschperspektive. Die Frau rechts im Bild hat übrigens auch nichts dort verloren.</a:t>
            </a:r>
          </a:p>
          <a:p>
            <a:endParaRPr lang="de-CH" altLang="de-DE"/>
          </a:p>
          <a:p>
            <a:r>
              <a:rPr lang="de-CH" altLang="de-DE"/>
              <a:t>Im Bild rechts ist die Abbildung durch eine lotrechte Kameraposition auf die  Körpermitte korrekt. Das nennt man Zentralperspektive.</a:t>
            </a:r>
          </a:p>
          <a:p>
            <a:endParaRPr lang="de-CH" altLang="de-DE"/>
          </a:p>
        </p:txBody>
      </p:sp>
      <p:sp>
        <p:nvSpPr>
          <p:cNvPr id="49155" name="Foliennummernplatzhalter 3">
            <a:extLst>
              <a:ext uri="{FF2B5EF4-FFF2-40B4-BE49-F238E27FC236}">
                <a16:creationId xmlns:a16="http://schemas.microsoft.com/office/drawing/2014/main" id="{17DA63D9-5D57-3375-3EE5-AC3DFE49E8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302A8F1-3585-8842-B59F-DB1D8DBE450C}" type="slidenum">
              <a:rPr lang="en-GB" altLang="de-DE" smtClean="0"/>
              <a:pPr>
                <a:spcBef>
                  <a:spcPct val="0"/>
                </a:spcBef>
              </a:pPr>
              <a:t>3</a:t>
            </a:fld>
            <a:endParaRPr lang="en-GB" alt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lienbildplatzhalter 1">
            <a:extLst>
              <a:ext uri="{FF2B5EF4-FFF2-40B4-BE49-F238E27FC236}">
                <a16:creationId xmlns:a16="http://schemas.microsoft.com/office/drawing/2014/main" id="{9CEA3C14-A16E-FB50-7902-2A0DCEFAB2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izenplatzhalter 2">
            <a:extLst>
              <a:ext uri="{FF2B5EF4-FFF2-40B4-BE49-F238E27FC236}">
                <a16:creationId xmlns:a16="http://schemas.microsoft.com/office/drawing/2014/main" id="{7F125F28-93C9-740E-F269-409BAC4324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Hier noch die Auswirkung einer schrägen Kameraposition in einer schematische Darstellung. (Wobei sich stürzende Linien bei einem Gebäude ohne Spezialobjektiv natürlich nur schwer vermeiden lassen.) </a:t>
            </a:r>
          </a:p>
        </p:txBody>
      </p:sp>
      <p:sp>
        <p:nvSpPr>
          <p:cNvPr id="51203" name="Foliennummernplatzhalter 3">
            <a:extLst>
              <a:ext uri="{FF2B5EF4-FFF2-40B4-BE49-F238E27FC236}">
                <a16:creationId xmlns:a16="http://schemas.microsoft.com/office/drawing/2014/main" id="{962E4DA3-DB2A-5816-7153-B10519187A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229E44F-AEEC-5B4E-89C9-7533DC0C3DB6}" type="slidenum">
              <a:rPr lang="en-GB" altLang="de-DE" smtClean="0"/>
              <a:pPr>
                <a:spcBef>
                  <a:spcPct val="0"/>
                </a:spcBef>
              </a:pPr>
              <a:t>4</a:t>
            </a:fld>
            <a:endParaRPr lang="en-GB" alt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Folienbildplatzhalter 1">
            <a:extLst>
              <a:ext uri="{FF2B5EF4-FFF2-40B4-BE49-F238E27FC236}">
                <a16:creationId xmlns:a16="http://schemas.microsoft.com/office/drawing/2014/main" id="{4EBDB51D-3C95-B6F0-EEB7-712F538CC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izenplatzhalter 2">
            <a:extLst>
              <a:ext uri="{FF2B5EF4-FFF2-40B4-BE49-F238E27FC236}">
                <a16:creationId xmlns:a16="http://schemas.microsoft.com/office/drawing/2014/main" id="{DBBBFDEC-FFF5-C4B0-0AFB-1F68F37248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Deshalb bitte immer die Kamera lotrecht zum Befund positionieren.</a:t>
            </a:r>
          </a:p>
          <a:p>
            <a:r>
              <a:rPr lang="de-CH" altLang="de-DE"/>
              <a:t>…</a:t>
            </a:r>
          </a:p>
        </p:txBody>
      </p:sp>
      <p:sp>
        <p:nvSpPr>
          <p:cNvPr id="53251" name="Foliennummernplatzhalter 3">
            <a:extLst>
              <a:ext uri="{FF2B5EF4-FFF2-40B4-BE49-F238E27FC236}">
                <a16:creationId xmlns:a16="http://schemas.microsoft.com/office/drawing/2014/main" id="{ADDFC244-77D5-1BA4-C50D-E5B47003A9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1138BF2-0E0D-594F-B2CE-AEDC74F5EE4A}" type="slidenum">
              <a:rPr lang="en-GB" altLang="de-DE" smtClean="0"/>
              <a:pPr>
                <a:spcBef>
                  <a:spcPct val="0"/>
                </a:spcBef>
              </a:pPr>
              <a:t>5</a:t>
            </a:fld>
            <a:endParaRPr lang="en-GB" alt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Folienbildplatzhalter 1">
            <a:extLst>
              <a:ext uri="{FF2B5EF4-FFF2-40B4-BE49-F238E27FC236}">
                <a16:creationId xmlns:a16="http://schemas.microsoft.com/office/drawing/2014/main" id="{2EA4EBE8-96BC-C404-0A4D-9C3904718A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izenplatzhalter 2">
            <a:extLst>
              <a:ext uri="{FF2B5EF4-FFF2-40B4-BE49-F238E27FC236}">
                <a16:creationId xmlns:a16="http://schemas.microsoft.com/office/drawing/2014/main" id="{F659CBFA-B1B6-2491-8D93-E4B7DBED77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a:t>
            </a:r>
          </a:p>
        </p:txBody>
      </p:sp>
      <p:sp>
        <p:nvSpPr>
          <p:cNvPr id="55299" name="Foliennummernplatzhalter 3">
            <a:extLst>
              <a:ext uri="{FF2B5EF4-FFF2-40B4-BE49-F238E27FC236}">
                <a16:creationId xmlns:a16="http://schemas.microsoft.com/office/drawing/2014/main" id="{4D9EA81B-2025-44EC-F8EC-4CEEDC8DCD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D165829-83C7-8F4F-87E2-A646FD185B3E}" type="slidenum">
              <a:rPr lang="en-GB" altLang="de-DE" smtClean="0"/>
              <a:pPr>
                <a:spcBef>
                  <a:spcPct val="0"/>
                </a:spcBef>
              </a:pPr>
              <a:t>6</a:t>
            </a:fld>
            <a:endParaRPr lang="en-GB" alt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lienbildplatzhalter 1">
            <a:extLst>
              <a:ext uri="{FF2B5EF4-FFF2-40B4-BE49-F238E27FC236}">
                <a16:creationId xmlns:a16="http://schemas.microsoft.com/office/drawing/2014/main" id="{8E4C6722-76F3-03AC-1EE7-38574E90E6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0" name="Notizenplatzhalter 2">
            <a:extLst>
              <a:ext uri="{FF2B5EF4-FFF2-40B4-BE49-F238E27FC236}">
                <a16:creationId xmlns:a16="http://schemas.microsoft.com/office/drawing/2014/main" id="{46C469AF-7527-72AD-7CAD-B175241916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dirty="0"/>
              <a:t>Auch das nachträgliche Vermessen von Befunden wird durch eine falsche Kameraposition bzw. durch eine falsche Perspektive erschwert bis unmöglich gemacht. Beim linken Bild muss man sich wirklich fragen an welcher Stelle ein Zentimeter auch ein Zentimeter ist.</a:t>
            </a:r>
          </a:p>
          <a:p>
            <a:endParaRPr lang="de-CH" altLang="de-DE" dirty="0"/>
          </a:p>
          <a:p>
            <a:r>
              <a:rPr lang="de-CH" altLang="de-DE" dirty="0"/>
              <a:t>&gt;</a:t>
            </a:r>
          </a:p>
          <a:p>
            <a:r>
              <a:rPr lang="de-CH" altLang="de-DE" dirty="0"/>
              <a:t>&gt;</a:t>
            </a:r>
          </a:p>
          <a:p>
            <a:r>
              <a:rPr lang="de-CH" altLang="de-DE" dirty="0"/>
              <a:t>Deshalb gibt es den </a:t>
            </a:r>
            <a:r>
              <a:rPr lang="de-CH" altLang="de-DE" dirty="0" err="1"/>
              <a:t>Smily</a:t>
            </a:r>
            <a:r>
              <a:rPr lang="de-CH" altLang="de-DE" dirty="0"/>
              <a:t> nur für das rechte Bild</a:t>
            </a:r>
          </a:p>
          <a:p>
            <a:endParaRPr lang="de-CH" altLang="de-DE" dirty="0"/>
          </a:p>
        </p:txBody>
      </p:sp>
      <p:sp>
        <p:nvSpPr>
          <p:cNvPr id="58371" name="Foliennummernplatzhalter 3">
            <a:extLst>
              <a:ext uri="{FF2B5EF4-FFF2-40B4-BE49-F238E27FC236}">
                <a16:creationId xmlns:a16="http://schemas.microsoft.com/office/drawing/2014/main" id="{319B72AB-2118-7826-BF48-7B7AF1022E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EF7928D-48B4-9B4B-B77E-D9BCB4932A7B}" type="slidenum">
              <a:rPr lang="en-GB" altLang="de-DE" smtClean="0"/>
              <a:pPr>
                <a:spcBef>
                  <a:spcPct val="0"/>
                </a:spcBef>
              </a:pPr>
              <a:t>8</a:t>
            </a:fld>
            <a:endParaRPr lang="en-GB" alt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Folienbildplatzhalter 1">
            <a:extLst>
              <a:ext uri="{FF2B5EF4-FFF2-40B4-BE49-F238E27FC236}">
                <a16:creationId xmlns:a16="http://schemas.microsoft.com/office/drawing/2014/main" id="{591A1ED6-A25C-E748-F5E2-6E92773D8B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Notizenplatzhalter 2">
            <a:extLst>
              <a:ext uri="{FF2B5EF4-FFF2-40B4-BE49-F238E27FC236}">
                <a16:creationId xmlns:a16="http://schemas.microsoft.com/office/drawing/2014/main" id="{23C37951-D777-853E-1540-AB691132D5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Um Befunde nachträglich Vermessen zu können, muss sich Massstab und Befund in einer Ebene befinden um beides scharf abbilden zu können.</a:t>
            </a:r>
          </a:p>
          <a:p>
            <a:endParaRPr lang="de-CH" altLang="de-DE"/>
          </a:p>
          <a:p>
            <a:r>
              <a:rPr lang="de-CH" altLang="de-DE"/>
              <a:t>Links ist durch den, wenn auch geringen, Abstand zum Befund nur der Massstab scharf abgebildet. Zudem ist die Aufnahmeachse wiederum nicht lotrecht.</a:t>
            </a:r>
          </a:p>
          <a:p>
            <a:endParaRPr lang="de-CH" altLang="de-DE"/>
          </a:p>
          <a:p>
            <a:r>
              <a:rPr lang="de-CH" altLang="de-DE"/>
              <a:t>Das rechte Bild dagegen ist vorbildhaft. Ohne Verzerrungen und Unschärfe der relevanten Bildinhalte.</a:t>
            </a:r>
          </a:p>
          <a:p>
            <a:endParaRPr lang="de-CH" altLang="de-DE"/>
          </a:p>
        </p:txBody>
      </p:sp>
      <p:sp>
        <p:nvSpPr>
          <p:cNvPr id="60419" name="Foliennummernplatzhalter 3">
            <a:extLst>
              <a:ext uri="{FF2B5EF4-FFF2-40B4-BE49-F238E27FC236}">
                <a16:creationId xmlns:a16="http://schemas.microsoft.com/office/drawing/2014/main" id="{982D8352-F687-2203-06D6-1D3ACD1DEA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01933D9-134A-CB45-8F28-ECEFD6188732}" type="slidenum">
              <a:rPr lang="en-GB" altLang="de-DE" smtClean="0"/>
              <a:pPr>
                <a:spcBef>
                  <a:spcPct val="0"/>
                </a:spcBef>
              </a:pPr>
              <a:t>9</a:t>
            </a:fld>
            <a:endParaRPr lang="en-GB" alt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lienbildplatzhalter 1">
            <a:extLst>
              <a:ext uri="{FF2B5EF4-FFF2-40B4-BE49-F238E27FC236}">
                <a16:creationId xmlns:a16="http://schemas.microsoft.com/office/drawing/2014/main" id="{57608A95-B47E-2061-B5A8-2B5C7C263F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Notizenplatzhalter 2">
            <a:extLst>
              <a:ext uri="{FF2B5EF4-FFF2-40B4-BE49-F238E27FC236}">
                <a16:creationId xmlns:a16="http://schemas.microsoft.com/office/drawing/2014/main" id="{83FE8C0F-95E6-5D2F-1875-03213FDD9F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Hier möchte ich ein aktuelles Beispiel für eine ungenügende Fotodokumentation einschieben. Basierend auf diesen 3 Fotos soll von uns ein Aktengutachten erstellt werden. Alle 3 Bilder haben eine geringe Auflösung und können dadurch kaum am Bildschirm vergrössert werden. Beim 1. Bild liegt der Hauptbefund im Schatten und die Grösse der Verletzungen können nur geschätzt werden, da auf einen Massstab verzichtet wurde.</a:t>
            </a:r>
          </a:p>
        </p:txBody>
      </p:sp>
      <p:sp>
        <p:nvSpPr>
          <p:cNvPr id="44035" name="Foliennummernplatzhalter 3">
            <a:extLst>
              <a:ext uri="{FF2B5EF4-FFF2-40B4-BE49-F238E27FC236}">
                <a16:creationId xmlns:a16="http://schemas.microsoft.com/office/drawing/2014/main" id="{0E4C524D-66F8-013B-BBC5-FF059A2741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4533244-E06A-8C4B-8E54-86700228C84B}" type="slidenum">
              <a:rPr lang="en-GB" altLang="de-DE" smtClean="0"/>
              <a:pPr>
                <a:spcBef>
                  <a:spcPct val="0"/>
                </a:spcBef>
              </a:pPr>
              <a:t>11</a:t>
            </a:fld>
            <a:endParaRPr lang="en-GB" alt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lienbildplatzhalter 1">
            <a:extLst>
              <a:ext uri="{FF2B5EF4-FFF2-40B4-BE49-F238E27FC236}">
                <a16:creationId xmlns:a16="http://schemas.microsoft.com/office/drawing/2014/main" id="{0CC4BA10-A12E-E47F-8905-41174EB659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Notizenplatzhalter 2">
            <a:extLst>
              <a:ext uri="{FF2B5EF4-FFF2-40B4-BE49-F238E27FC236}">
                <a16:creationId xmlns:a16="http://schemas.microsoft.com/office/drawing/2014/main" id="{13554F7D-2733-0D40-C0EC-10DB85CC3C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Eine Fotodokumentation sollte auch ohne Text und Erklärung nachvollziehbar sein.</a:t>
            </a:r>
          </a:p>
          <a:p>
            <a:endParaRPr lang="de-CH" altLang="de-DE"/>
          </a:p>
          <a:p>
            <a:r>
              <a:rPr lang="de-CH" altLang="de-DE"/>
              <a:t>Bevor Nahaufnahmen gemacht werden ist es sinnvoll den Betrachter mit Übersichts- und evtl. Detailaufnahmen an den Befund heran zu führen um so selbsterklärend wirken zu können. </a:t>
            </a:r>
          </a:p>
          <a:p>
            <a:endParaRPr lang="de-CH" altLang="de-DE"/>
          </a:p>
          <a:p>
            <a:r>
              <a:rPr lang="de-CH" altLang="de-DE"/>
              <a:t>Ansonsten sollte natürlich eine Situation oder ein Befund immer zuerst in seiner ursprünglichen Form festgehalten werden, bevor etwas verändert oder gereinigt wird.  </a:t>
            </a:r>
          </a:p>
        </p:txBody>
      </p:sp>
      <p:sp>
        <p:nvSpPr>
          <p:cNvPr id="46083" name="Foliennummernplatzhalter 3">
            <a:extLst>
              <a:ext uri="{FF2B5EF4-FFF2-40B4-BE49-F238E27FC236}">
                <a16:creationId xmlns:a16="http://schemas.microsoft.com/office/drawing/2014/main" id="{7CFF32EF-2530-9578-1F8E-25A71C017D2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9DECCF9-1655-8247-9CFE-DF059C8CD8E1}" type="slidenum">
              <a:rPr lang="en-GB" altLang="de-DE" smtClean="0"/>
              <a:pPr>
                <a:spcBef>
                  <a:spcPct val="0"/>
                </a:spcBef>
              </a:pPr>
              <a:t>12</a:t>
            </a:fld>
            <a:endParaRPr lang="en-GB" alt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Folienbildplatzhalter 1">
            <a:extLst>
              <a:ext uri="{FF2B5EF4-FFF2-40B4-BE49-F238E27FC236}">
                <a16:creationId xmlns:a16="http://schemas.microsoft.com/office/drawing/2014/main" id="{18A602DF-4D57-07F8-268F-89C10EB568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izenplatzhalter 2">
            <a:extLst>
              <a:ext uri="{FF2B5EF4-FFF2-40B4-BE49-F238E27FC236}">
                <a16:creationId xmlns:a16="http://schemas.microsoft.com/office/drawing/2014/main" id="{4300A322-B1A0-59FD-829C-A08C0E9B6F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dirty="0"/>
              <a:t>Die Aufnahmen sollten Formatfüllend und mit einem Sicherheitsabstand zu den Rändern gemacht werden.  </a:t>
            </a:r>
          </a:p>
          <a:p>
            <a:r>
              <a:rPr lang="de-CH" altLang="de-DE" dirty="0"/>
              <a:t>&gt;</a:t>
            </a:r>
          </a:p>
          <a:p>
            <a:r>
              <a:rPr lang="de-CH" altLang="de-DE" dirty="0"/>
              <a:t>Das Auge des Betrachters wird so nicht durch Beiwerk abgelenkt,</a:t>
            </a:r>
          </a:p>
          <a:p>
            <a:r>
              <a:rPr lang="de-CH" altLang="de-DE" dirty="0"/>
              <a:t>und das </a:t>
            </a:r>
            <a:r>
              <a:rPr lang="de-CH" altLang="de-DE" dirty="0" err="1"/>
              <a:t>Auflösevermögen</a:t>
            </a:r>
            <a:r>
              <a:rPr lang="de-CH" altLang="de-DE" dirty="0"/>
              <a:t> bzw. die Vergrösserungsmöglichkeit eines Bildes wird nicht unnötig beschränkt. </a:t>
            </a:r>
          </a:p>
          <a:p>
            <a:endParaRPr lang="de-CH" altLang="de-DE" dirty="0"/>
          </a:p>
          <a:p>
            <a:r>
              <a:rPr lang="de-CH" altLang="de-DE" dirty="0"/>
              <a:t>Hier  wurden ca.  ¾ des </a:t>
            </a:r>
            <a:r>
              <a:rPr lang="de-CH" altLang="de-DE" dirty="0" err="1"/>
              <a:t>Auflösevermögens</a:t>
            </a:r>
            <a:r>
              <a:rPr lang="de-CH" altLang="de-DE" dirty="0"/>
              <a:t> verschenkt. </a:t>
            </a:r>
          </a:p>
          <a:p>
            <a:endParaRPr lang="de-CH" altLang="de-DE" dirty="0"/>
          </a:p>
          <a:p>
            <a:r>
              <a:rPr lang="de-CH" altLang="de-DE" dirty="0"/>
              <a:t>Im konkreten Fall lässt sich der Oberkörper der Person nicht mehr Formatfüllend freistellen, was die Betrachtung und Beurteilung z. B. des Gesichts einschränkt.</a:t>
            </a:r>
          </a:p>
        </p:txBody>
      </p:sp>
      <p:sp>
        <p:nvSpPr>
          <p:cNvPr id="63491" name="Foliennummernplatzhalter 3">
            <a:extLst>
              <a:ext uri="{FF2B5EF4-FFF2-40B4-BE49-F238E27FC236}">
                <a16:creationId xmlns:a16="http://schemas.microsoft.com/office/drawing/2014/main" id="{C326A055-8CE5-3243-3014-81ED00EA3A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7CBF4F1-1A53-794D-AD35-B9E3FDF06729}" type="slidenum">
              <a:rPr lang="en-GB" altLang="de-DE" smtClean="0"/>
              <a:pPr>
                <a:spcBef>
                  <a:spcPct val="0"/>
                </a:spcBef>
              </a:pPr>
              <a:t>14</a:t>
            </a:fld>
            <a:endParaRPr lang="en-GB" alt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lienbildplatzhalter 1">
            <a:extLst>
              <a:ext uri="{FF2B5EF4-FFF2-40B4-BE49-F238E27FC236}">
                <a16:creationId xmlns:a16="http://schemas.microsoft.com/office/drawing/2014/main" id="{679A4CB9-36E0-68D5-F808-52E4D62434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2" name="Notizenplatzhalter 2">
            <a:extLst>
              <a:ext uri="{FF2B5EF4-FFF2-40B4-BE49-F238E27FC236}">
                <a16:creationId xmlns:a16="http://schemas.microsoft.com/office/drawing/2014/main" id="{8611AB8A-050A-6ACD-FF06-8487627C34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Hier sehen Sie gleich doppelt wer zu Ihnen spricht. Wiedererkennen würden Sie mich aber wohl und hohhentlich nur durch das rechte Portrait.</a:t>
            </a:r>
          </a:p>
          <a:p>
            <a:endParaRPr lang="de-CH" altLang="de-DE"/>
          </a:p>
          <a:p>
            <a:r>
              <a:rPr lang="de-DE" altLang="de-DE"/>
              <a:t>Verhoff hat 2007 den sogenannten Weitwinkeleffekt beschrieben. </a:t>
            </a:r>
          </a:p>
          <a:p>
            <a:endParaRPr lang="de-DE" altLang="de-DE"/>
          </a:p>
          <a:p>
            <a:r>
              <a:rPr lang="de-DE" altLang="de-DE"/>
              <a:t>Dabei hat er nachgewiesen, dass vor allem der Objektabstand bei formatfüllenden Aufnahmen mit einer Weitwinkelbrennweite einen deutlichen Einfluss auf die Gesichtsform hat.</a:t>
            </a:r>
          </a:p>
          <a:p>
            <a:endParaRPr lang="de-CH" altLang="de-DE"/>
          </a:p>
          <a:p>
            <a:r>
              <a:rPr lang="de-DE" altLang="de-DE"/>
              <a:t>Daher sollte man gerade bei Portraits einen Abstand von min. 1,5 m einhalten und mit einer leichten Telebrennweite ab 70mm arbeiten, damit es keine grotesken Verzeichnungen gibt und die Gesichtsproportionen realistisch dargestellt werden können.</a:t>
            </a:r>
          </a:p>
          <a:p>
            <a:endParaRPr lang="de-CH" altLang="de-DE"/>
          </a:p>
          <a:p>
            <a:r>
              <a:rPr lang="de-DE" altLang="de-DE"/>
              <a:t>Dabei ist auf die Augenpartie scharf zu stellen.</a:t>
            </a:r>
            <a:endParaRPr lang="de-CH" altLang="de-DE"/>
          </a:p>
          <a:p>
            <a:endParaRPr lang="de-CH" altLang="de-DE"/>
          </a:p>
        </p:txBody>
      </p:sp>
      <p:sp>
        <p:nvSpPr>
          <p:cNvPr id="66563" name="Foliennummernplatzhalter 3">
            <a:extLst>
              <a:ext uri="{FF2B5EF4-FFF2-40B4-BE49-F238E27FC236}">
                <a16:creationId xmlns:a16="http://schemas.microsoft.com/office/drawing/2014/main" id="{6D235858-3717-3A76-30FE-DE5643ABEA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C6E434C-B160-5A4A-A665-CA1E73C05EB5}" type="slidenum">
              <a:rPr lang="en-GB" altLang="de-DE" smtClean="0"/>
              <a:pPr>
                <a:spcBef>
                  <a:spcPct val="0"/>
                </a:spcBef>
              </a:pPr>
              <a:t>16</a:t>
            </a:fld>
            <a:endParaRPr lang="en-GB" alt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lienbildplatzhalter 1">
            <a:extLst>
              <a:ext uri="{FF2B5EF4-FFF2-40B4-BE49-F238E27FC236}">
                <a16:creationId xmlns:a16="http://schemas.microsoft.com/office/drawing/2014/main" id="{659B7DFB-059C-2FD3-F5FD-BCEABFAF51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0" name="Notizenplatzhalter 2">
            <a:extLst>
              <a:ext uri="{FF2B5EF4-FFF2-40B4-BE49-F238E27FC236}">
                <a16:creationId xmlns:a16="http://schemas.microsoft.com/office/drawing/2014/main" id="{3F4CF361-12B8-A59E-C49D-CD56F2496B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DE" altLang="de-DE"/>
              <a:t>Auch wenn es durch die geringe Naheinstellgrenze von Weitwinkel bequemem ist formatfüllende Nahaufnahmen zu machen</a:t>
            </a:r>
          </a:p>
          <a:p>
            <a:r>
              <a:rPr lang="de-DE" altLang="de-DE"/>
              <a:t>&gt;</a:t>
            </a:r>
          </a:p>
          <a:p>
            <a:r>
              <a:rPr lang="de-DE" altLang="de-DE"/>
              <a:t>so wirkt sich ein Abstand zum Objekt in der Regel nicht nur positiv auf die Abbildungstreue, sondern auch auf die Ausleuchtung aus.</a:t>
            </a:r>
          </a:p>
          <a:p>
            <a:endParaRPr lang="de-DE" altLang="de-DE"/>
          </a:p>
          <a:p>
            <a:r>
              <a:rPr lang="de-DE" altLang="de-DE"/>
              <a:t>Hier sieht man schön wie der Massstab durch die tonnenförmige Verzeichnung des Weitwinkels einer Banane gleicht.</a:t>
            </a:r>
          </a:p>
          <a:p>
            <a:endParaRPr lang="de-CH" altLang="de-DE"/>
          </a:p>
          <a:p>
            <a:endParaRPr lang="de-CH" altLang="de-DE"/>
          </a:p>
        </p:txBody>
      </p:sp>
      <p:sp>
        <p:nvSpPr>
          <p:cNvPr id="68611" name="Foliennummernplatzhalter 3">
            <a:extLst>
              <a:ext uri="{FF2B5EF4-FFF2-40B4-BE49-F238E27FC236}">
                <a16:creationId xmlns:a16="http://schemas.microsoft.com/office/drawing/2014/main" id="{ED521F59-EA43-B26D-4773-F13E821E59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3711306-D973-1442-9841-B889FB79A69E}" type="slidenum">
              <a:rPr lang="en-GB" altLang="de-DE" smtClean="0"/>
              <a:pPr>
                <a:spcBef>
                  <a:spcPct val="0"/>
                </a:spcBef>
              </a:pPr>
              <a:t>17</a:t>
            </a:fld>
            <a:endParaRPr lang="en-GB" alt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lienbildplatzhalter 1">
            <a:extLst>
              <a:ext uri="{FF2B5EF4-FFF2-40B4-BE49-F238E27FC236}">
                <a16:creationId xmlns:a16="http://schemas.microsoft.com/office/drawing/2014/main" id="{32488719-952D-2240-472F-E639616609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8" name="Notizenplatzhalter 2">
            <a:extLst>
              <a:ext uri="{FF2B5EF4-FFF2-40B4-BE49-F238E27FC236}">
                <a16:creationId xmlns:a16="http://schemas.microsoft.com/office/drawing/2014/main" id="{BAB5AFCA-3AFD-57BA-70F1-1CA3F64A86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Für die Abbildungstreue sind </a:t>
            </a:r>
            <a:r>
              <a:rPr lang="de-CH" altLang="de-DE" u="sng"/>
              <a:t>nur</a:t>
            </a:r>
            <a:r>
              <a:rPr lang="de-CH" altLang="de-DE"/>
              <a:t> die Weitwinkelbrennweiten problematisch.</a:t>
            </a:r>
          </a:p>
          <a:p>
            <a:endParaRPr lang="de-CH" altLang="de-DE"/>
          </a:p>
          <a:p>
            <a:r>
              <a:rPr lang="de-CH" altLang="de-DE"/>
              <a:t>Deshalb Weitwinkel bitte nur für Übersichtsaufnahmen. </a:t>
            </a:r>
          </a:p>
          <a:p>
            <a:endParaRPr lang="de-CH" altLang="de-DE"/>
          </a:p>
          <a:p>
            <a:r>
              <a:rPr lang="de-CH" altLang="de-DE"/>
              <a:t>Für alles Andere wie Portraits, Detail- oder Nahaufnahmen sind die Brennweiten ab 50mm zuständig. Also lieber Abstand halten und Heranzoomen.</a:t>
            </a:r>
          </a:p>
          <a:p>
            <a:endParaRPr lang="de-CH" altLang="de-DE"/>
          </a:p>
          <a:p>
            <a:r>
              <a:rPr lang="de-CH" altLang="de-DE"/>
              <a:t>Übrigens kommt der Begriff Normalbrennweite von der Beziehung zu unserem natürlichen Sehwinkel.</a:t>
            </a:r>
          </a:p>
        </p:txBody>
      </p:sp>
      <p:sp>
        <p:nvSpPr>
          <p:cNvPr id="70659" name="Foliennummernplatzhalter 3">
            <a:extLst>
              <a:ext uri="{FF2B5EF4-FFF2-40B4-BE49-F238E27FC236}">
                <a16:creationId xmlns:a16="http://schemas.microsoft.com/office/drawing/2014/main" id="{E04898C1-8EE2-D7FC-5E4D-2067ADF914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8F7B54F-1BBC-E44A-A6F1-6CAA33204266}" type="slidenum">
              <a:rPr lang="en-GB" altLang="de-DE" smtClean="0"/>
              <a:pPr>
                <a:spcBef>
                  <a:spcPct val="0"/>
                </a:spcBef>
              </a:pPr>
              <a:t>18</a:t>
            </a:fld>
            <a:endParaRPr lang="en-GB" alt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lienbildplatzhalter 1">
            <a:extLst>
              <a:ext uri="{FF2B5EF4-FFF2-40B4-BE49-F238E27FC236}">
                <a16:creationId xmlns:a16="http://schemas.microsoft.com/office/drawing/2014/main" id="{83F21C69-D239-012D-3F69-ABFE7042D4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6" name="Notizenplatzhalter 2">
            <a:extLst>
              <a:ext uri="{FF2B5EF4-FFF2-40B4-BE49-F238E27FC236}">
                <a16:creationId xmlns:a16="http://schemas.microsoft.com/office/drawing/2014/main" id="{78C8E659-9182-9980-441A-2FFBD1C79F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Hier sehen wir die sehr unterschiedlichen Bildausschnitte der schon genannten Brennweiten.</a:t>
            </a:r>
          </a:p>
          <a:p>
            <a:endParaRPr lang="de-CH" altLang="de-DE"/>
          </a:p>
          <a:p>
            <a:r>
              <a:rPr lang="de-CH" altLang="de-DE"/>
              <a:t>Mit z.B. 24mm Weitwinkel und 84° Grad Bildwinkel haben wir «ganz viel auf dem Bild».</a:t>
            </a:r>
          </a:p>
          <a:p>
            <a:endParaRPr lang="de-CH" altLang="de-DE"/>
          </a:p>
          <a:p>
            <a:r>
              <a:rPr lang="de-CH" altLang="de-DE"/>
              <a:t>Mit einer 50mm Normalbrennweite und 47° Grad haben wir sichtlich weniger.</a:t>
            </a:r>
          </a:p>
          <a:p>
            <a:endParaRPr lang="de-CH" altLang="de-DE"/>
          </a:p>
          <a:p>
            <a:r>
              <a:rPr lang="de-CH" altLang="de-DE"/>
              <a:t>Eine 70mm Telebrennweite wirkt schon wie ein leichtes Fernrohr.</a:t>
            </a:r>
          </a:p>
          <a:p>
            <a:endParaRPr lang="de-CH" altLang="de-DE"/>
          </a:p>
        </p:txBody>
      </p:sp>
      <p:sp>
        <p:nvSpPr>
          <p:cNvPr id="72707" name="Foliennummernplatzhalter 3">
            <a:extLst>
              <a:ext uri="{FF2B5EF4-FFF2-40B4-BE49-F238E27FC236}">
                <a16:creationId xmlns:a16="http://schemas.microsoft.com/office/drawing/2014/main" id="{C0FEB511-5B50-B091-7E91-AEA60FDBBCC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4A175C-F80A-F540-A254-61FDAC51A25D}" type="slidenum">
              <a:rPr lang="en-GB" altLang="de-DE" smtClean="0"/>
              <a:pPr>
                <a:spcBef>
                  <a:spcPct val="0"/>
                </a:spcBef>
              </a:pPr>
              <a:t>19</a:t>
            </a:fld>
            <a:endParaRPr lang="en-GB" alt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lienbildplatzhalter 1">
            <a:extLst>
              <a:ext uri="{FF2B5EF4-FFF2-40B4-BE49-F238E27FC236}">
                <a16:creationId xmlns:a16="http://schemas.microsoft.com/office/drawing/2014/main" id="{21348338-CEB8-9674-9134-8CBABC9C07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izenplatzhalter 2">
            <a:extLst>
              <a:ext uri="{FF2B5EF4-FFF2-40B4-BE49-F238E27FC236}">
                <a16:creationId xmlns:a16="http://schemas.microsoft.com/office/drawing/2014/main" id="{52E64D45-0A5B-B82C-8BCF-89FCF2AE69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Schauen wir uns weitere Fehlerquellen an.</a:t>
            </a:r>
          </a:p>
          <a:p>
            <a:endParaRPr lang="de-CH" altLang="de-DE"/>
          </a:p>
          <a:p>
            <a:r>
              <a:rPr lang="de-CH" altLang="de-DE"/>
              <a:t>Hier befindet sich der Befund im Schatten, da das Licht von hinten-oben kommt und durch den Kopf der Person abgefangen wird. </a:t>
            </a:r>
          </a:p>
          <a:p>
            <a:endParaRPr lang="de-CH" altLang="de-DE"/>
          </a:p>
          <a:p>
            <a:r>
              <a:rPr lang="de-CH" altLang="de-DE"/>
              <a:t>Problemlösung ganz einfach, entweder diese lebende Person bitten sich in das Licht zu drehen, oder…</a:t>
            </a:r>
          </a:p>
          <a:p>
            <a:endParaRPr lang="de-CH" altLang="de-DE"/>
          </a:p>
        </p:txBody>
      </p:sp>
      <p:sp>
        <p:nvSpPr>
          <p:cNvPr id="75779" name="Foliennummernplatzhalter 3">
            <a:extLst>
              <a:ext uri="{FF2B5EF4-FFF2-40B4-BE49-F238E27FC236}">
                <a16:creationId xmlns:a16="http://schemas.microsoft.com/office/drawing/2014/main" id="{40D11F3F-B077-8730-CD80-4F9EBAD2B26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05FE4C9-8510-7E4C-9447-D74545147E54}" type="slidenum">
              <a:rPr lang="en-GB" altLang="de-DE" smtClean="0"/>
              <a:pPr>
                <a:spcBef>
                  <a:spcPct val="0"/>
                </a:spcBef>
              </a:pPr>
              <a:t>21</a:t>
            </a:fld>
            <a:endParaRPr lang="en-GB" alt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Folienbildplatzhalter 1">
            <a:extLst>
              <a:ext uri="{FF2B5EF4-FFF2-40B4-BE49-F238E27FC236}">
                <a16:creationId xmlns:a16="http://schemas.microsoft.com/office/drawing/2014/main" id="{F79725FF-177B-AB23-A1A0-46B2A50F24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izenplatzhalter 2">
            <a:extLst>
              <a:ext uri="{FF2B5EF4-FFF2-40B4-BE49-F238E27FC236}">
                <a16:creationId xmlns:a16="http://schemas.microsoft.com/office/drawing/2014/main" id="{76F6B63A-40F6-B28E-03A0-3245E92566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…wie hier bei dieser Gegenlichtsituation zusätzliches Licht verwenden, also den Blitz zuschalten.</a:t>
            </a:r>
          </a:p>
        </p:txBody>
      </p:sp>
      <p:sp>
        <p:nvSpPr>
          <p:cNvPr id="77827" name="Foliennummernplatzhalter 3">
            <a:extLst>
              <a:ext uri="{FF2B5EF4-FFF2-40B4-BE49-F238E27FC236}">
                <a16:creationId xmlns:a16="http://schemas.microsoft.com/office/drawing/2014/main" id="{0C582EDA-DD3F-BCBC-D337-18CB2AB0840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4C164BB-C312-E549-840D-4655C223E3D2}" type="slidenum">
              <a:rPr lang="en-GB" altLang="de-DE" smtClean="0"/>
              <a:pPr>
                <a:spcBef>
                  <a:spcPct val="0"/>
                </a:spcBef>
              </a:pPr>
              <a:t>22</a:t>
            </a:fld>
            <a:endParaRPr lang="en-GB" alt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Folienbildplatzhalter 1">
            <a:extLst>
              <a:ext uri="{FF2B5EF4-FFF2-40B4-BE49-F238E27FC236}">
                <a16:creationId xmlns:a16="http://schemas.microsoft.com/office/drawing/2014/main" id="{0272BC25-C515-2533-ACFB-88D379C86A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Notizenplatzhalter 2">
            <a:extLst>
              <a:ext uri="{FF2B5EF4-FFF2-40B4-BE49-F238E27FC236}">
                <a16:creationId xmlns:a16="http://schemas.microsoft.com/office/drawing/2014/main" id="{CFE8F039-3366-BEE0-3121-670DF85CD7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Der Autofocus hat sich hier das Drehkreuz vom Bürostuhl zum scharfstellen ausgesucht und den Befund, Befund sein lassen. </a:t>
            </a:r>
          </a:p>
          <a:p>
            <a:r>
              <a:rPr lang="de-CH" altLang="de-DE"/>
              <a:t>Deshalb bitte das Autofokusmessfeld gezielt auswählen, oder zumindest per Ergebniskontrolle die Treffvorliebe der Autofokusautomatik kontrollieren.</a:t>
            </a:r>
          </a:p>
          <a:p>
            <a:endParaRPr lang="de-CH" altLang="de-DE"/>
          </a:p>
        </p:txBody>
      </p:sp>
      <p:sp>
        <p:nvSpPr>
          <p:cNvPr id="86019" name="Foliennummernplatzhalter 3">
            <a:extLst>
              <a:ext uri="{FF2B5EF4-FFF2-40B4-BE49-F238E27FC236}">
                <a16:creationId xmlns:a16="http://schemas.microsoft.com/office/drawing/2014/main" id="{37F898F4-7360-36D8-14AB-F901FF45138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6B56CF5-1FF6-744B-A3A2-BE6B2F3DF888}" type="slidenum">
              <a:rPr lang="en-GB" altLang="de-DE" smtClean="0"/>
              <a:pPr>
                <a:spcBef>
                  <a:spcPct val="0"/>
                </a:spcBef>
              </a:pPr>
              <a:t>24</a:t>
            </a:fld>
            <a:endParaRPr lang="en-GB" alt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Folienbildplatzhalter 1">
            <a:extLst>
              <a:ext uri="{FF2B5EF4-FFF2-40B4-BE49-F238E27FC236}">
                <a16:creationId xmlns:a16="http://schemas.microsoft.com/office/drawing/2014/main" id="{A8C97C7B-1547-25A1-7DE5-15A791E174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Notizenplatzhalter 2">
            <a:extLst>
              <a:ext uri="{FF2B5EF4-FFF2-40B4-BE49-F238E27FC236}">
                <a16:creationId xmlns:a16="http://schemas.microsoft.com/office/drawing/2014/main" id="{1C2BEB24-030E-DC18-27C7-D6145F15E0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de-CH" altLang="de-DE"/>
              <a:t>Vorlesen…</a:t>
            </a:r>
          </a:p>
        </p:txBody>
      </p:sp>
      <p:sp>
        <p:nvSpPr>
          <p:cNvPr id="88067" name="Foliennummernplatzhalter 3">
            <a:extLst>
              <a:ext uri="{FF2B5EF4-FFF2-40B4-BE49-F238E27FC236}">
                <a16:creationId xmlns:a16="http://schemas.microsoft.com/office/drawing/2014/main" id="{CC2E452E-8624-ADCB-11E8-BC28EA8AA0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C8B6F74-86CA-174F-81C9-D7CE3887D8FE}" type="slidenum">
              <a:rPr lang="en-GB" altLang="de-DE" smtClean="0"/>
              <a:pPr>
                <a:spcBef>
                  <a:spcPct val="0"/>
                </a:spcBef>
              </a:pPr>
              <a:t>26</a:t>
            </a:fld>
            <a:endParaRPr lang="en-GB" alt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6C6DB-AC31-28C1-D8F6-318D70309ED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C2246648-87DF-E526-932F-736022D00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272B4C48-8563-1D47-F263-DBAA91A92F62}"/>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A00FE8E3-7489-3570-0417-3EB47751523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CFA125E6-6D4B-CA2F-8CD6-1D13D12CDDE9}"/>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361269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9EC010-8693-B26D-A121-FF7B83118147}"/>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C4D6577F-5128-AC49-7FA4-BD5C854DA12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DEF87E3B-ADBD-0748-F7C7-4174B83C0324}"/>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C6783799-B1BC-2F89-A793-63008A57EF29}"/>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678482D7-E3C0-268A-CF15-5A8741292787}"/>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451184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300B-9235-6C30-9F9B-CB5EF712D49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684F1649-F894-C520-23E1-505FACA1A8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E490D43F-36CE-A913-B194-320BF048C2EA}"/>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7EF1CABC-CD7E-82BC-EE5D-340A32EF177C}"/>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615E7F16-956D-118C-9840-23421F4137CB}"/>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93548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3FC143-62D6-8022-4ADB-B6C167B1D80D}"/>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722C0BE3-E432-6016-2C8E-048B9E36BB1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D17D10DE-C1C4-B32A-F049-F23DEEB6B38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5EFF909D-E5D8-C6B4-8A59-317197036772}"/>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6" name="Fußzeilenplatzhalter 5">
            <a:extLst>
              <a:ext uri="{FF2B5EF4-FFF2-40B4-BE49-F238E27FC236}">
                <a16:creationId xmlns:a16="http://schemas.microsoft.com/office/drawing/2014/main" id="{27A6B905-DAC5-774A-DA22-3C774BDFEABE}"/>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E85A6EF3-3293-CE44-C402-8CC3D65458FF}"/>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3986322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42587D-DDFF-9E1D-9E0C-069274318705}"/>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BE09E79A-C655-A7D9-3BF5-20A9167556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21C64D7-C281-2B27-E33E-EE20FFC94B9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D784A453-F472-57CD-50AB-9C0378833C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ACCD509-3176-6D98-7998-293A2C1A28E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8E780C0D-E1C0-E656-57A1-13CAD7DD3022}"/>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8" name="Fußzeilenplatzhalter 7">
            <a:extLst>
              <a:ext uri="{FF2B5EF4-FFF2-40B4-BE49-F238E27FC236}">
                <a16:creationId xmlns:a16="http://schemas.microsoft.com/office/drawing/2014/main" id="{4BD42764-31C9-C29E-6141-49E2DD12D142}"/>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AFDD08DA-D8A7-5378-28EE-8ECE12446A8B}"/>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3287332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61577-A8F3-75E6-CA9F-C9D26B9D4CD7}"/>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F059DFDB-E325-3ED1-FF92-8ED4DE415435}"/>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4" name="Fußzeilenplatzhalter 3">
            <a:extLst>
              <a:ext uri="{FF2B5EF4-FFF2-40B4-BE49-F238E27FC236}">
                <a16:creationId xmlns:a16="http://schemas.microsoft.com/office/drawing/2014/main" id="{BE32E0DC-6963-5EDE-84F1-B9EE3604B4FA}"/>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D3763E51-1D84-8EE0-9CD5-A9EA9631B5DF}"/>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489606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84C2B2E-2D61-CEEF-F480-F0E4A666E08C}"/>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3" name="Fußzeilenplatzhalter 2">
            <a:extLst>
              <a:ext uri="{FF2B5EF4-FFF2-40B4-BE49-F238E27FC236}">
                <a16:creationId xmlns:a16="http://schemas.microsoft.com/office/drawing/2014/main" id="{3F50EF16-2698-36A8-2867-BC24F146CEB3}"/>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C60503EC-F0A4-663B-38D1-2D56EB98B2BC}"/>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3990612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37D7C5-E618-335C-97ED-5BA9603D74C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CBFFE16D-3703-15C7-CFF0-F54B7E0B6B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D15775CC-CFD1-E10A-380A-CB7B8EAB7C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FBE6F95-8463-999B-E273-1A0BC4E738CD}"/>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6" name="Fußzeilenplatzhalter 5">
            <a:extLst>
              <a:ext uri="{FF2B5EF4-FFF2-40B4-BE49-F238E27FC236}">
                <a16:creationId xmlns:a16="http://schemas.microsoft.com/office/drawing/2014/main" id="{0B5528E3-07E6-DAC7-FCEB-2314256EE019}"/>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96DE006D-14BD-20DB-A89F-146FDF5960DA}"/>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154076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5DD9F9-0BE1-71C5-2431-D6CF0065548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7ABF2FB6-794F-A0B9-23B7-D192B5B028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421E5CAA-7FE0-C6BF-C71B-F7A2E430B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356560D-4F10-968D-AD4A-EC136931D39F}"/>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6" name="Fußzeilenplatzhalter 5">
            <a:extLst>
              <a:ext uri="{FF2B5EF4-FFF2-40B4-BE49-F238E27FC236}">
                <a16:creationId xmlns:a16="http://schemas.microsoft.com/office/drawing/2014/main" id="{94AF9088-911C-8288-4296-70501FFFD7E9}"/>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ADB313F8-E8AE-A06C-9878-13141EB08E6F}"/>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2419515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835AC4-3551-E85F-FBDB-232D5A203086}"/>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B7A045DD-73E5-74C8-78D2-386A3F38299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DC0E274F-096A-C0E1-3470-87FF27B24A99}"/>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E5E69C6D-29BF-D793-A427-FBF6A57AB384}"/>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D3CC25D8-9004-D6F7-7DA1-3E5DDCB449B6}"/>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105552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23914F4-84B6-4023-37D9-850B95E84B3B}"/>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67FA0625-97E2-6CC1-2917-BE04B713723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29942D59-1BD3-66C5-CC9B-AD45715C87AB}"/>
              </a:ext>
            </a:extLst>
          </p:cNvPr>
          <p:cNvSpPr>
            <a:spLocks noGrp="1"/>
          </p:cNvSpPr>
          <p:nvPr>
            <p:ph type="dt" sz="half" idx="10"/>
          </p:nvPr>
        </p:nvSpPr>
        <p:spPr/>
        <p:txBody>
          <a:body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40DA89B2-B270-CB7C-A04A-EA8818686D4E}"/>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2A31783E-3D70-5E67-3D0A-56635D457EEB}"/>
              </a:ext>
            </a:extLst>
          </p:cNvPr>
          <p:cNvSpPr>
            <a:spLocks noGrp="1"/>
          </p:cNvSpPr>
          <p:nvPr>
            <p:ph type="sldNum" sz="quarter" idx="12"/>
          </p:nvPr>
        </p:nvSpPr>
        <p:spPr/>
        <p:txBody>
          <a:bodyPr/>
          <a:lstStyle/>
          <a:p>
            <a:fld id="{73C51613-2B28-411F-AA96-9BE63BF4728D}" type="slidenum">
              <a:rPr lang="en-US" smtClean="0"/>
              <a:t>‹Nr.›</a:t>
            </a:fld>
            <a:endParaRPr lang="en-US"/>
          </a:p>
        </p:txBody>
      </p:sp>
    </p:spTree>
    <p:extLst>
      <p:ext uri="{BB962C8B-B14F-4D97-AF65-F5344CB8AC3E}">
        <p14:creationId xmlns:p14="http://schemas.microsoft.com/office/powerpoint/2010/main" val="1828743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478005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Abschnitts-&#10;überschrift">
    <p:spTree>
      <p:nvGrpSpPr>
        <p:cNvPr id="1" name=""/>
        <p:cNvGrpSpPr/>
        <p:nvPr/>
      </p:nvGrpSpPr>
      <p:grpSpPr>
        <a:xfrm>
          <a:off x="0" y="0"/>
          <a:ext cx="0" cy="0"/>
          <a:chOff x="0" y="0"/>
          <a:chExt cx="0" cy="0"/>
        </a:xfrm>
      </p:grpSpPr>
      <p:sp>
        <p:nvSpPr>
          <p:cNvPr id="17" name="Text Placeholder 3"/>
          <p:cNvSpPr>
            <a:spLocks noGrp="1"/>
          </p:cNvSpPr>
          <p:nvPr>
            <p:ph type="body" sz="quarter" idx="13"/>
          </p:nvPr>
        </p:nvSpPr>
        <p:spPr>
          <a:xfrm>
            <a:off x="814918" y="1952625"/>
            <a:ext cx="10850033" cy="4248150"/>
          </a:xfrm>
        </p:spPr>
        <p:txBody>
          <a:bodyPr/>
          <a:lstStyle>
            <a:lvl1pPr>
              <a:defRPr sz="2400" b="1">
                <a:solidFill>
                  <a:schemeClr val="accent3"/>
                </a:solidFill>
                <a:latin typeface="+mj-lt"/>
              </a:defRPr>
            </a:lvl1pPr>
            <a:lvl2pPr marL="0" indent="0">
              <a:buNone/>
              <a:defRPr/>
            </a:lvl2pPr>
          </a:lstStyle>
          <a:p>
            <a:pPr lvl="0"/>
            <a:r>
              <a:rPr lang="de-DE" noProof="0"/>
              <a:t>Textmasterformat bearbeiten</a:t>
            </a:r>
          </a:p>
          <a:p>
            <a:pPr lvl="1"/>
            <a:r>
              <a:rPr lang="de-DE" noProof="0"/>
              <a:t>Zweite Ebene</a:t>
            </a:r>
          </a:p>
        </p:txBody>
      </p:sp>
      <p:sp>
        <p:nvSpPr>
          <p:cNvPr id="3" name="Date Placeholder 14">
            <a:extLst>
              <a:ext uri="{FF2B5EF4-FFF2-40B4-BE49-F238E27FC236}">
                <a16:creationId xmlns:a16="http://schemas.microsoft.com/office/drawing/2014/main" id="{58ED463B-C03D-8CC1-9723-045EEE461769}"/>
              </a:ext>
            </a:extLst>
          </p:cNvPr>
          <p:cNvSpPr>
            <a:spLocks noGrp="1"/>
          </p:cNvSpPr>
          <p:nvPr>
            <p:ph type="dt" sz="half" idx="14"/>
          </p:nvPr>
        </p:nvSpPr>
        <p:spPr/>
        <p:txBody>
          <a:bodyPr/>
          <a:lstStyle>
            <a:lvl1pPr>
              <a:defRPr/>
            </a:lvl1pPr>
          </a:lstStyle>
          <a:p>
            <a:pPr>
              <a:defRPr/>
            </a:pPr>
            <a:endParaRPr lang="de-CH"/>
          </a:p>
        </p:txBody>
      </p:sp>
      <p:sp>
        <p:nvSpPr>
          <p:cNvPr id="4" name="Fußzeilenplatzhalter 3">
            <a:extLst>
              <a:ext uri="{FF2B5EF4-FFF2-40B4-BE49-F238E27FC236}">
                <a16:creationId xmlns:a16="http://schemas.microsoft.com/office/drawing/2014/main" id="{C30D2F66-318C-BBDD-ABD6-F76218FED64D}"/>
              </a:ext>
            </a:extLst>
          </p:cNvPr>
          <p:cNvSpPr>
            <a:spLocks noGrp="1"/>
          </p:cNvSpPr>
          <p:nvPr>
            <p:ph type="ftr" sz="quarter" idx="15"/>
          </p:nvPr>
        </p:nvSpPr>
        <p:spPr/>
        <p:txBody>
          <a:bodyPr/>
          <a:lstStyle>
            <a:lvl1pPr>
              <a:defRPr/>
            </a:lvl1pPr>
          </a:lstStyle>
          <a:p>
            <a:pPr>
              <a:defRPr/>
            </a:pPr>
            <a:r>
              <a:rPr lang="de-CH"/>
              <a:t>Thomas.Rost@bs.ch</a:t>
            </a:r>
          </a:p>
        </p:txBody>
      </p:sp>
      <p:sp>
        <p:nvSpPr>
          <p:cNvPr id="5" name="Foliennummernplatzhalter 4">
            <a:extLst>
              <a:ext uri="{FF2B5EF4-FFF2-40B4-BE49-F238E27FC236}">
                <a16:creationId xmlns:a16="http://schemas.microsoft.com/office/drawing/2014/main" id="{911BC0A9-A06B-190A-DF64-9B42AC7C52B1}"/>
              </a:ext>
            </a:extLst>
          </p:cNvPr>
          <p:cNvSpPr>
            <a:spLocks noGrp="1"/>
          </p:cNvSpPr>
          <p:nvPr>
            <p:ph type="sldNum" sz="quarter" idx="16"/>
          </p:nvPr>
        </p:nvSpPr>
        <p:spPr/>
        <p:txBody>
          <a:bodyPr/>
          <a:lstStyle>
            <a:lvl1pPr>
              <a:defRPr/>
            </a:lvl1pPr>
          </a:lstStyle>
          <a:p>
            <a:pPr>
              <a:defRPr/>
            </a:pPr>
            <a:r>
              <a:rPr lang="de-CH" altLang="de-DE"/>
              <a:t>|	</a:t>
            </a:r>
            <a:fld id="{AF7F4E59-A1DC-FB4B-A2AE-6BA62A61E9F6}" type="slidenum">
              <a:rPr lang="de-CH" altLang="de-DE" smtClean="0"/>
              <a:pPr>
                <a:defRPr/>
              </a:pPr>
              <a:t>‹Nr.›</a:t>
            </a:fld>
            <a:endParaRPr lang="de-CH" altLang="de-DE"/>
          </a:p>
        </p:txBody>
      </p:sp>
    </p:spTree>
    <p:extLst>
      <p:ext uri="{BB962C8B-B14F-4D97-AF65-F5344CB8AC3E}">
        <p14:creationId xmlns:p14="http://schemas.microsoft.com/office/powerpoint/2010/main" val="466207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039793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811338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4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212552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5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3467519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6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811970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277033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8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172123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9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1731154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0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166128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1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497035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2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5746047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3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7088809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4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3228570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5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3162991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6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6952852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7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6915172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_Abschnitts-&#10;überschrift">
    <p:spTree>
      <p:nvGrpSpPr>
        <p:cNvPr id="1" name=""/>
        <p:cNvGrpSpPr/>
        <p:nvPr/>
      </p:nvGrpSpPr>
      <p:grpSpPr>
        <a:xfrm>
          <a:off x="0" y="0"/>
          <a:ext cx="0" cy="0"/>
          <a:chOff x="0" y="0"/>
          <a:chExt cx="0" cy="0"/>
        </a:xfrm>
      </p:grpSpPr>
      <p:sp>
        <p:nvSpPr>
          <p:cNvPr id="17" name="Text Placeholder 3"/>
          <p:cNvSpPr>
            <a:spLocks noGrp="1"/>
          </p:cNvSpPr>
          <p:nvPr>
            <p:ph type="body" sz="quarter" idx="13"/>
          </p:nvPr>
        </p:nvSpPr>
        <p:spPr>
          <a:xfrm>
            <a:off x="814918" y="1952625"/>
            <a:ext cx="10850033" cy="4248150"/>
          </a:xfrm>
        </p:spPr>
        <p:txBody>
          <a:bodyPr/>
          <a:lstStyle>
            <a:lvl1pPr>
              <a:defRPr sz="2400" b="1">
                <a:solidFill>
                  <a:schemeClr val="accent3"/>
                </a:solidFill>
                <a:latin typeface="+mj-lt"/>
              </a:defRPr>
            </a:lvl1pPr>
            <a:lvl2pPr marL="0" indent="0">
              <a:buNone/>
              <a:defRPr/>
            </a:lvl2pPr>
          </a:lstStyle>
          <a:p>
            <a:pPr lvl="0"/>
            <a:r>
              <a:rPr lang="de-DE" noProof="0"/>
              <a:t>Textmasterformat bearbeiten</a:t>
            </a:r>
          </a:p>
          <a:p>
            <a:pPr lvl="1"/>
            <a:r>
              <a:rPr lang="de-DE" noProof="0"/>
              <a:t>Zweite Ebene</a:t>
            </a:r>
          </a:p>
        </p:txBody>
      </p:sp>
      <p:sp>
        <p:nvSpPr>
          <p:cNvPr id="3" name="Date Placeholder 14">
            <a:extLst>
              <a:ext uri="{FF2B5EF4-FFF2-40B4-BE49-F238E27FC236}">
                <a16:creationId xmlns:a16="http://schemas.microsoft.com/office/drawing/2014/main" id="{58ED463B-C03D-8CC1-9723-045EEE461769}"/>
              </a:ext>
            </a:extLst>
          </p:cNvPr>
          <p:cNvSpPr>
            <a:spLocks noGrp="1"/>
          </p:cNvSpPr>
          <p:nvPr>
            <p:ph type="dt" sz="half" idx="14"/>
          </p:nvPr>
        </p:nvSpPr>
        <p:spPr/>
        <p:txBody>
          <a:bodyPr/>
          <a:lstStyle>
            <a:lvl1pPr>
              <a:defRPr/>
            </a:lvl1pPr>
          </a:lstStyle>
          <a:p>
            <a:pPr>
              <a:defRPr/>
            </a:pPr>
            <a:endParaRPr lang="de-CH"/>
          </a:p>
        </p:txBody>
      </p:sp>
      <p:sp>
        <p:nvSpPr>
          <p:cNvPr id="4" name="Fußzeilenplatzhalter 3">
            <a:extLst>
              <a:ext uri="{FF2B5EF4-FFF2-40B4-BE49-F238E27FC236}">
                <a16:creationId xmlns:a16="http://schemas.microsoft.com/office/drawing/2014/main" id="{C30D2F66-318C-BBDD-ABD6-F76218FED64D}"/>
              </a:ext>
            </a:extLst>
          </p:cNvPr>
          <p:cNvSpPr>
            <a:spLocks noGrp="1"/>
          </p:cNvSpPr>
          <p:nvPr>
            <p:ph type="ftr" sz="quarter" idx="15"/>
          </p:nvPr>
        </p:nvSpPr>
        <p:spPr/>
        <p:txBody>
          <a:bodyPr/>
          <a:lstStyle>
            <a:lvl1pPr>
              <a:defRPr/>
            </a:lvl1pPr>
          </a:lstStyle>
          <a:p>
            <a:pPr>
              <a:defRPr/>
            </a:pPr>
            <a:r>
              <a:rPr lang="de-CH"/>
              <a:t>Thomas.Rost@bs.ch</a:t>
            </a:r>
          </a:p>
        </p:txBody>
      </p:sp>
      <p:sp>
        <p:nvSpPr>
          <p:cNvPr id="5" name="Foliennummernplatzhalter 4">
            <a:extLst>
              <a:ext uri="{FF2B5EF4-FFF2-40B4-BE49-F238E27FC236}">
                <a16:creationId xmlns:a16="http://schemas.microsoft.com/office/drawing/2014/main" id="{911BC0A9-A06B-190A-DF64-9B42AC7C52B1}"/>
              </a:ext>
            </a:extLst>
          </p:cNvPr>
          <p:cNvSpPr>
            <a:spLocks noGrp="1"/>
          </p:cNvSpPr>
          <p:nvPr>
            <p:ph type="sldNum" sz="quarter" idx="16"/>
          </p:nvPr>
        </p:nvSpPr>
        <p:spPr/>
        <p:txBody>
          <a:bodyPr/>
          <a:lstStyle>
            <a:lvl1pPr>
              <a:defRPr/>
            </a:lvl1pPr>
          </a:lstStyle>
          <a:p>
            <a:pPr>
              <a:defRPr/>
            </a:pPr>
            <a:r>
              <a:rPr lang="de-CH" altLang="de-DE"/>
              <a:t>|	</a:t>
            </a:r>
            <a:fld id="{AF7F4E59-A1DC-FB4B-A2AE-6BA62A61E9F6}" type="slidenum">
              <a:rPr lang="de-CH" altLang="de-DE" smtClean="0"/>
              <a:pPr>
                <a:defRPr/>
              </a:pPr>
              <a:t>‹Nr.›</a:t>
            </a:fld>
            <a:endParaRPr lang="de-CH" altLang="de-DE"/>
          </a:p>
        </p:txBody>
      </p:sp>
    </p:spTree>
    <p:extLst>
      <p:ext uri="{BB962C8B-B14F-4D97-AF65-F5344CB8AC3E}">
        <p14:creationId xmlns:p14="http://schemas.microsoft.com/office/powerpoint/2010/main" val="19810539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8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2252491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9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789326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0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252017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1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19808814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2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33612811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3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36937388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4_Titel und Inhalt">
    <p:spTree>
      <p:nvGrpSpPr>
        <p:cNvPr id="1" name=""/>
        <p:cNvGrpSpPr/>
        <p:nvPr/>
      </p:nvGrpSpPr>
      <p:grpSpPr>
        <a:xfrm>
          <a:off x="0" y="0"/>
          <a:ext cx="0" cy="0"/>
          <a:chOff x="0" y="0"/>
          <a:chExt cx="0" cy="0"/>
        </a:xfrm>
      </p:grpSpPr>
      <p:sp>
        <p:nvSpPr>
          <p:cNvPr id="18" name="Content Placeholder 17"/>
          <p:cNvSpPr>
            <a:spLocks noGrp="1"/>
          </p:cNvSpPr>
          <p:nvPr>
            <p:ph sz="quarter" idx="10"/>
          </p:nvPr>
        </p:nvSpPr>
        <p:spPr>
          <a:xfrm>
            <a:off x="814918" y="1952625"/>
            <a:ext cx="10850033" cy="424815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
        <p:nvSpPr>
          <p:cNvPr id="5" name="Titel 4"/>
          <p:cNvSpPr>
            <a:spLocks noGrp="1"/>
          </p:cNvSpPr>
          <p:nvPr>
            <p:ph type="title"/>
          </p:nvPr>
        </p:nvSpPr>
        <p:spPr/>
        <p:txBody>
          <a:bodyPr/>
          <a:lstStyle/>
          <a:p>
            <a:r>
              <a:rPr lang="de-DE"/>
              <a:t>Titelmasterformat durch Klicken bearbeiten</a:t>
            </a:r>
            <a:endParaRPr lang="de-CH"/>
          </a:p>
        </p:txBody>
      </p:sp>
      <p:sp>
        <p:nvSpPr>
          <p:cNvPr id="4" name="Date Placeholder 14">
            <a:extLst>
              <a:ext uri="{FF2B5EF4-FFF2-40B4-BE49-F238E27FC236}">
                <a16:creationId xmlns:a16="http://schemas.microsoft.com/office/drawing/2014/main" id="{3E7138D9-1DE5-7EFC-AD81-F46B56B95AB1}"/>
              </a:ext>
            </a:extLst>
          </p:cNvPr>
          <p:cNvSpPr>
            <a:spLocks noGrp="1"/>
          </p:cNvSpPr>
          <p:nvPr>
            <p:ph type="dt" sz="half" idx="11"/>
          </p:nvPr>
        </p:nvSpPr>
        <p:spPr/>
        <p:txBody>
          <a:bodyPr/>
          <a:lstStyle>
            <a:lvl1pPr>
              <a:defRPr/>
            </a:lvl1pPr>
          </a:lstStyle>
          <a:p>
            <a:pPr>
              <a:defRPr/>
            </a:pPr>
            <a:endParaRPr lang="de-CH"/>
          </a:p>
        </p:txBody>
      </p:sp>
      <p:sp>
        <p:nvSpPr>
          <p:cNvPr id="6" name="Fußzeilenplatzhalter 3">
            <a:extLst>
              <a:ext uri="{FF2B5EF4-FFF2-40B4-BE49-F238E27FC236}">
                <a16:creationId xmlns:a16="http://schemas.microsoft.com/office/drawing/2014/main" id="{352AB0AD-7ECF-58CB-E7E5-3D12127D21C0}"/>
              </a:ext>
            </a:extLst>
          </p:cNvPr>
          <p:cNvSpPr>
            <a:spLocks noGrp="1"/>
          </p:cNvSpPr>
          <p:nvPr>
            <p:ph type="ftr" sz="quarter" idx="12"/>
          </p:nvPr>
        </p:nvSpPr>
        <p:spPr/>
        <p:txBody>
          <a:bodyPr/>
          <a:lstStyle>
            <a:lvl1pPr>
              <a:defRPr/>
            </a:lvl1pPr>
          </a:lstStyle>
          <a:p>
            <a:pPr>
              <a:defRPr/>
            </a:pPr>
            <a:r>
              <a:rPr lang="de-CH"/>
              <a:t>Thomas.Rost@bs.ch</a:t>
            </a:r>
          </a:p>
        </p:txBody>
      </p:sp>
      <p:sp>
        <p:nvSpPr>
          <p:cNvPr id="7" name="Foliennummernplatzhalter 4">
            <a:extLst>
              <a:ext uri="{FF2B5EF4-FFF2-40B4-BE49-F238E27FC236}">
                <a16:creationId xmlns:a16="http://schemas.microsoft.com/office/drawing/2014/main" id="{768A34F1-1E5E-D591-5AC0-5B45CE94406E}"/>
              </a:ext>
            </a:extLst>
          </p:cNvPr>
          <p:cNvSpPr>
            <a:spLocks noGrp="1"/>
          </p:cNvSpPr>
          <p:nvPr>
            <p:ph type="sldNum" sz="quarter" idx="13"/>
          </p:nvPr>
        </p:nvSpPr>
        <p:spPr/>
        <p:txBody>
          <a:bodyPr/>
          <a:lstStyle>
            <a:lvl1pPr>
              <a:defRPr/>
            </a:lvl1pPr>
          </a:lstStyle>
          <a:p>
            <a:pPr>
              <a:defRPr/>
            </a:pPr>
            <a:r>
              <a:rPr lang="de-CH" altLang="de-DE"/>
              <a:t>|	</a:t>
            </a:r>
            <a:fld id="{4BA71873-E4E2-2D4C-AA88-BF696C7B295F}" type="slidenum">
              <a:rPr lang="de-CH" altLang="de-DE" smtClean="0"/>
              <a:pPr>
                <a:defRPr/>
              </a:pPr>
              <a:t>‹Nr.›</a:t>
            </a:fld>
            <a:endParaRPr lang="de-CH" altLang="de-DE"/>
          </a:p>
        </p:txBody>
      </p:sp>
    </p:spTree>
    <p:extLst>
      <p:ext uri="{BB962C8B-B14F-4D97-AF65-F5344CB8AC3E}">
        <p14:creationId xmlns:p14="http://schemas.microsoft.com/office/powerpoint/2010/main" val="3109974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6F0ECD3-FADF-A196-4339-9DE67E8E25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BB1FFB79-2F24-8A04-5550-FB36B63BB5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B2408773-9CBB-7535-EDBA-71312520EB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3BBA50-3B73-4F8A-846B-A91707CA069F}" type="datetimeFigureOut">
              <a:rPr lang="en-US" smtClean="0"/>
              <a:t>2/19/2026</a:t>
            </a:fld>
            <a:endParaRPr lang="en-US"/>
          </a:p>
        </p:txBody>
      </p:sp>
      <p:sp>
        <p:nvSpPr>
          <p:cNvPr id="5" name="Fußzeilenplatzhalter 4">
            <a:extLst>
              <a:ext uri="{FF2B5EF4-FFF2-40B4-BE49-F238E27FC236}">
                <a16:creationId xmlns:a16="http://schemas.microsoft.com/office/drawing/2014/main" id="{43B37198-566C-011F-5820-08867900F7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Foliennummernplatzhalter 5">
            <a:extLst>
              <a:ext uri="{FF2B5EF4-FFF2-40B4-BE49-F238E27FC236}">
                <a16:creationId xmlns:a16="http://schemas.microsoft.com/office/drawing/2014/main" id="{E57574C7-6F86-A602-155B-6787FEA24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C51613-2B28-411F-AA96-9BE63BF4728D}" type="slidenum">
              <a:rPr lang="en-US" smtClean="0"/>
              <a:t>‹Nr.›</a:t>
            </a:fld>
            <a:endParaRPr lang="en-US"/>
          </a:p>
        </p:txBody>
      </p:sp>
    </p:spTree>
    <p:extLst>
      <p:ext uri="{BB962C8B-B14F-4D97-AF65-F5344CB8AC3E}">
        <p14:creationId xmlns:p14="http://schemas.microsoft.com/office/powerpoint/2010/main" val="3974918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2.wav"/><Relationship Id="rId7" Type="http://schemas.openxmlformats.org/officeDocument/2006/relationships/image" Target="../media/image4.jpeg"/><Relationship Id="rId2" Type="http://schemas.microsoft.com/office/2007/relationships/media" Target="../media/media2.wav"/><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notesSlide" Target="../notesSlides/notesSlide3.xml"/><Relationship Id="rId4"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audio" Target="../media/media3.wav"/><Relationship Id="rId1" Type="http://schemas.microsoft.com/office/2007/relationships/media" Target="../media/media3.wav"/><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audio" Target="../media/media4.wav"/><Relationship Id="rId1" Type="http://schemas.microsoft.com/office/2007/relationships/media" Target="../media/media4.wav"/><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5.wav"/><Relationship Id="rId7" Type="http://schemas.openxmlformats.org/officeDocument/2006/relationships/image" Target="../media/image7.jpeg"/><Relationship Id="rId2" Type="http://schemas.microsoft.com/office/2007/relationships/media" Target="../media/media5.wav"/><Relationship Id="rId1" Type="http://schemas.openxmlformats.org/officeDocument/2006/relationships/tags" Target="../tags/tag2.xml"/><Relationship Id="rId6" Type="http://schemas.openxmlformats.org/officeDocument/2006/relationships/image" Target="../media/image6.jpeg"/><Relationship Id="rId5" Type="http://schemas.openxmlformats.org/officeDocument/2006/relationships/notesSlide" Target="../notesSlides/notesSlide7.xml"/><Relationship Id="rId4"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6.wav"/><Relationship Id="rId7" Type="http://schemas.openxmlformats.org/officeDocument/2006/relationships/image" Target="../media/image9.jpeg"/><Relationship Id="rId2" Type="http://schemas.microsoft.com/office/2007/relationships/media" Target="../media/media6.wav"/><Relationship Id="rId1" Type="http://schemas.openxmlformats.org/officeDocument/2006/relationships/tags" Target="../tags/tag3.xml"/><Relationship Id="rId6" Type="http://schemas.openxmlformats.org/officeDocument/2006/relationships/image" Target="../media/image8.jpeg"/><Relationship Id="rId5" Type="http://schemas.openxmlformats.org/officeDocument/2006/relationships/notesSlide" Target="../notesSlides/notesSlide8.xml"/><Relationship Id="rId4"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image" Target="../media/image2.png"/><Relationship Id="rId2" Type="http://schemas.openxmlformats.org/officeDocument/2006/relationships/audio" Target="../media/media7.wav"/><Relationship Id="rId1" Type="http://schemas.microsoft.com/office/2007/relationships/media" Target="../media/media7.wav"/><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slideLayout" Target="../slideLayouts/slideLayout23.xml"/><Relationship Id="rId7" Type="http://schemas.openxmlformats.org/officeDocument/2006/relationships/image" Target="../media/image14.jpeg"/><Relationship Id="rId2" Type="http://schemas.openxmlformats.org/officeDocument/2006/relationships/audio" Target="../media/media8.wav"/><Relationship Id="rId1" Type="http://schemas.microsoft.com/office/2007/relationships/media" Target="../media/media8.wav"/><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notesSlide" Target="../notesSlides/notesSlide10.xml"/><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audio" Target="../media/media9.wav"/><Relationship Id="rId7" Type="http://schemas.openxmlformats.org/officeDocument/2006/relationships/image" Target="../media/image2.png"/><Relationship Id="rId2" Type="http://schemas.microsoft.com/office/2007/relationships/media" Target="../media/media9.wav"/><Relationship Id="rId1" Type="http://schemas.openxmlformats.org/officeDocument/2006/relationships/tags" Target="../tags/tag4.xml"/><Relationship Id="rId6" Type="http://schemas.openxmlformats.org/officeDocument/2006/relationships/image" Target="../media/image16.png"/><Relationship Id="rId5" Type="http://schemas.openxmlformats.org/officeDocument/2006/relationships/notesSlide" Target="../notesSlides/notesSlide11.xml"/><Relationship Id="rId4"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10.wav"/><Relationship Id="rId7" Type="http://schemas.openxmlformats.org/officeDocument/2006/relationships/image" Target="../media/image18.png"/><Relationship Id="rId2" Type="http://schemas.microsoft.com/office/2007/relationships/media" Target="../media/media10.wav"/><Relationship Id="rId1" Type="http://schemas.openxmlformats.org/officeDocument/2006/relationships/tags" Target="../tags/tag5.xml"/><Relationship Id="rId6" Type="http://schemas.openxmlformats.org/officeDocument/2006/relationships/image" Target="../media/image17.png"/><Relationship Id="rId5" Type="http://schemas.openxmlformats.org/officeDocument/2006/relationships/notesSlide" Target="../notesSlides/notesSlide12.xml"/><Relationship Id="rId4"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11.wav"/><Relationship Id="rId7" Type="http://schemas.openxmlformats.org/officeDocument/2006/relationships/image" Target="../media/image20.png"/><Relationship Id="rId2" Type="http://schemas.microsoft.com/office/2007/relationships/media" Target="../media/media11.wav"/><Relationship Id="rId1" Type="http://schemas.openxmlformats.org/officeDocument/2006/relationships/tags" Target="../tags/tag6.xml"/><Relationship Id="rId6" Type="http://schemas.openxmlformats.org/officeDocument/2006/relationships/image" Target="../media/image19.png"/><Relationship Id="rId5" Type="http://schemas.openxmlformats.org/officeDocument/2006/relationships/notesSlide" Target="../notesSlides/notesSlide13.xml"/><Relationship Id="rId4"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12.wav"/><Relationship Id="rId1" Type="http://schemas.microsoft.com/office/2007/relationships/media" Target="../media/media12.wav"/><Relationship Id="rId5" Type="http://schemas.openxmlformats.org/officeDocument/2006/relationships/image" Target="../media/image2.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audio" Target="../media/media13.wav"/><Relationship Id="rId1" Type="http://schemas.microsoft.com/office/2007/relationships/media" Target="../media/media13.wav"/><Relationship Id="rId6" Type="http://schemas.openxmlformats.org/officeDocument/2006/relationships/image" Target="../media/image2.png"/><Relationship Id="rId5" Type="http://schemas.openxmlformats.org/officeDocument/2006/relationships/image" Target="../media/image21.jpeg"/><Relationship Id="rId4"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audio" Target="../media/media14.wav"/><Relationship Id="rId1" Type="http://schemas.microsoft.com/office/2007/relationships/media" Target="../media/media14.wav"/><Relationship Id="rId6" Type="http://schemas.openxmlformats.org/officeDocument/2006/relationships/image" Target="../media/image2.png"/><Relationship Id="rId5" Type="http://schemas.openxmlformats.org/officeDocument/2006/relationships/image" Target="../media/image22.jpeg"/><Relationship Id="rId4"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15.wav"/><Relationship Id="rId7" Type="http://schemas.openxmlformats.org/officeDocument/2006/relationships/image" Target="../media/image24.jpeg"/><Relationship Id="rId2" Type="http://schemas.microsoft.com/office/2007/relationships/media" Target="../media/media15.wav"/><Relationship Id="rId1" Type="http://schemas.openxmlformats.org/officeDocument/2006/relationships/tags" Target="../tags/tag7.xml"/><Relationship Id="rId6" Type="http://schemas.openxmlformats.org/officeDocument/2006/relationships/image" Target="../media/image23.jpeg"/><Relationship Id="rId5" Type="http://schemas.openxmlformats.org/officeDocument/2006/relationships/notesSlide" Target="../notesSlides/notesSlide17.xml"/><Relationship Id="rId4"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audio" Target="../media/media16.wav"/><Relationship Id="rId1" Type="http://schemas.microsoft.com/office/2007/relationships/media" Target="../media/media16.wav"/><Relationship Id="rId6" Type="http://schemas.openxmlformats.org/officeDocument/2006/relationships/image" Target="../media/image2.png"/><Relationship Id="rId5" Type="http://schemas.openxmlformats.org/officeDocument/2006/relationships/image" Target="../media/image25.jpeg"/><Relationship Id="rId4"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3F3AFA-7D76-1886-762C-7EE7511BA086}"/>
              </a:ext>
            </a:extLst>
          </p:cNvPr>
          <p:cNvSpPr>
            <a:spLocks noGrp="1"/>
          </p:cNvSpPr>
          <p:nvPr>
            <p:ph type="title"/>
          </p:nvPr>
        </p:nvSpPr>
        <p:spPr>
          <a:xfrm>
            <a:off x="2135189" y="1628775"/>
            <a:ext cx="8137525" cy="369888"/>
          </a:xfrm>
        </p:spPr>
        <p:txBody>
          <a:bodyPr>
            <a:noAutofit/>
          </a:bodyPr>
          <a:lstStyle/>
          <a:p>
            <a:pPr algn="ctr">
              <a:defRPr/>
            </a:pPr>
            <a:r>
              <a:rPr lang="de-CH" sz="3200" b="1" dirty="0">
                <a:solidFill>
                  <a:schemeClr val="tx1">
                    <a:lumMod val="85000"/>
                    <a:lumOff val="15000"/>
                  </a:schemeClr>
                </a:solidFill>
                <a:latin typeface="Arial" panose="020B0604020202020204" pitchFamily="34" charset="0"/>
                <a:cs typeface="Arial" panose="020B0604020202020204" pitchFamily="34" charset="0"/>
              </a:rPr>
              <a:t>Die Forensische Fotodokumentation</a:t>
            </a:r>
          </a:p>
        </p:txBody>
      </p:sp>
      <p:pic>
        <p:nvPicPr>
          <p:cNvPr id="3075" name="Picture 10" descr="Fotografieren2">
            <a:extLst>
              <a:ext uri="{FF2B5EF4-FFF2-40B4-BE49-F238E27FC236}">
                <a16:creationId xmlns:a16="http://schemas.microsoft.com/office/drawing/2014/main" id="{537A19E0-E7FF-F697-BB8F-9E2E81C96FAE}"/>
              </a:ext>
            </a:extLst>
          </p:cNvPr>
          <p:cNvPicPr>
            <a:picLocks noGrp="1" noChangeAspect="1" noChangeArrowheads="1"/>
          </p:cNvPicPr>
          <p:nvPr>
            <p:ph sz="quarter" idx="10"/>
          </p:nvPr>
        </p:nvPicPr>
        <p:blipFill>
          <a:blip r:embed="rId3" cstate="screen">
            <a:extLst>
              <a:ext uri="{28A0092B-C50C-407E-A947-70E740481C1C}">
                <a14:useLocalDpi xmlns:a14="http://schemas.microsoft.com/office/drawing/2010/main"/>
              </a:ext>
            </a:extLst>
          </a:blip>
          <a:srcRect/>
          <a:stretch>
            <a:fillRect/>
          </a:stretch>
        </p:blipFill>
        <p:spPr>
          <a:xfrm>
            <a:off x="4224338" y="3619501"/>
            <a:ext cx="3924300" cy="2581275"/>
          </a:xfrm>
          <a:effectLst>
            <a:outerShdw blurRad="292100" dist="139700" dir="2700000" algn="tl" rotWithShape="0">
              <a:srgbClr val="333333">
                <a:alpha val="65000"/>
              </a:srgbClr>
            </a:outerShdw>
          </a:effectLst>
        </p:spPr>
      </p:pic>
    </p:spTree>
  </p:cSld>
  <p:clrMapOvr>
    <a:masterClrMapping/>
  </p:clrMapOvr>
  <p:transition spd="slow" advTm="503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1F39C79-6238-EAF3-D9BC-BEF154463EBA}"/>
              </a:ext>
            </a:extLst>
          </p:cNvPr>
          <p:cNvSpPr>
            <a:spLocks noGrp="1"/>
          </p:cNvSpPr>
          <p:nvPr>
            <p:ph type="body" sz="quarter" idx="13"/>
          </p:nvPr>
        </p:nvSpPr>
        <p:spPr>
          <a:xfrm>
            <a:off x="2135189" y="1773238"/>
            <a:ext cx="8137525" cy="4248150"/>
          </a:xfrm>
        </p:spPr>
        <p:txBody>
          <a:bodyPr/>
          <a:lstStyle/>
          <a:p>
            <a:pPr marL="0" indent="0" algn="ctr">
              <a:buNone/>
              <a:defRPr/>
            </a:pPr>
            <a:r>
              <a:rPr lang="de-CH" sz="3000" dirty="0">
                <a:solidFill>
                  <a:schemeClr val="tx1"/>
                </a:solidFill>
                <a:latin typeface="Arial" panose="020B0604020202020204" pitchFamily="34" charset="0"/>
                <a:cs typeface="Arial" panose="020B0604020202020204" pitchFamily="34" charset="0"/>
              </a:rPr>
              <a:t>Ziel der forensischen </a:t>
            </a:r>
          </a:p>
          <a:p>
            <a:pPr marL="0" indent="0" algn="ctr">
              <a:buNone/>
              <a:defRPr/>
            </a:pPr>
            <a:r>
              <a:rPr lang="de-CH" sz="3000" dirty="0">
                <a:solidFill>
                  <a:schemeClr val="tx1"/>
                </a:solidFill>
                <a:latin typeface="Arial" panose="020B0604020202020204" pitchFamily="34" charset="0"/>
                <a:cs typeface="Arial" panose="020B0604020202020204" pitchFamily="34" charset="0"/>
              </a:rPr>
              <a:t>(Dokumentations-)Fotografie:</a:t>
            </a:r>
          </a:p>
          <a:p>
            <a:pPr marL="0" indent="0" algn="ctr">
              <a:buNone/>
              <a:defRPr/>
            </a:pPr>
            <a:endParaRPr lang="de-CH" sz="3000" dirty="0">
              <a:solidFill>
                <a:schemeClr val="tx1"/>
              </a:solidFill>
              <a:latin typeface="Arial" panose="020B0604020202020204" pitchFamily="34" charset="0"/>
              <a:cs typeface="Arial" panose="020B0604020202020204" pitchFamily="34" charset="0"/>
            </a:endParaRPr>
          </a:p>
          <a:p>
            <a:pPr marL="0" indent="0" algn="ctr">
              <a:buNone/>
              <a:defRPr/>
            </a:pPr>
            <a:r>
              <a:rPr lang="de-CH" sz="3000" dirty="0">
                <a:solidFill>
                  <a:schemeClr val="tx1"/>
                </a:solidFill>
                <a:latin typeface="Arial" panose="020B0604020202020204" pitchFamily="34" charset="0"/>
                <a:cs typeface="Arial" panose="020B0604020202020204" pitchFamily="34" charset="0"/>
              </a:rPr>
              <a:t>Befunde sollen in hoher technischer Qualität exakt und nachvollziehbar dokumentiert werden </a:t>
            </a:r>
          </a:p>
          <a:p>
            <a:pPr marL="0" indent="0" algn="ctr">
              <a:buNone/>
              <a:defRPr/>
            </a:pPr>
            <a:endParaRPr lang="de-CH" sz="3000" dirty="0">
              <a:solidFill>
                <a:schemeClr val="tx1"/>
              </a:solidFill>
              <a:latin typeface="Arial" panose="020B0604020202020204" pitchFamily="34" charset="0"/>
              <a:cs typeface="Arial" panose="020B0604020202020204" pitchFamily="34" charset="0"/>
            </a:endParaRPr>
          </a:p>
          <a:p>
            <a:pPr marL="0" indent="0">
              <a:buNone/>
              <a:defRPr/>
            </a:pPr>
            <a:endParaRPr lang="de-CH" dirty="0">
              <a:solidFill>
                <a:schemeClr val="tx1"/>
              </a:solidFill>
            </a:endParaRPr>
          </a:p>
          <a:p>
            <a:pPr marL="0" indent="0" algn="ctr">
              <a:buNone/>
              <a:defRPr/>
            </a:pPr>
            <a:endParaRPr lang="de-CH" i="1" dirty="0">
              <a:solidFill>
                <a:schemeClr val="tx1"/>
              </a:solidFill>
            </a:endParaRPr>
          </a:p>
          <a:p>
            <a:pPr marL="0" indent="0" algn="ctr">
              <a:buNone/>
              <a:defRPr/>
            </a:pPr>
            <a:endParaRPr lang="de-CH" i="1" dirty="0">
              <a:solidFill>
                <a:schemeClr val="tx1"/>
              </a:solidFill>
            </a:endParaRPr>
          </a:p>
          <a:p>
            <a:pPr marL="0" indent="0" algn="ctr">
              <a:buNone/>
              <a:defRPr/>
            </a:pPr>
            <a:endParaRPr lang="de-CH" i="1" dirty="0">
              <a:solidFill>
                <a:schemeClr val="tx1"/>
              </a:solidFill>
            </a:endParaRPr>
          </a:p>
          <a:p>
            <a:pPr marL="0" indent="0" algn="ctr">
              <a:buNone/>
              <a:defRPr/>
            </a:pPr>
            <a:endParaRPr lang="de-CH" i="1" dirty="0">
              <a:solidFill>
                <a:schemeClr val="tx1"/>
              </a:solidFill>
            </a:endParaRPr>
          </a:p>
        </p:txBody>
      </p:sp>
      <p:pic>
        <p:nvPicPr>
          <p:cNvPr id="3" name="Audio 2">
            <a:hlinkClick r:id="" action="ppaction://media"/>
            <a:extLst>
              <a:ext uri="{FF2B5EF4-FFF2-40B4-BE49-F238E27FC236}">
                <a16:creationId xmlns:a16="http://schemas.microsoft.com/office/drawing/2014/main" id="{8609342D-DEEA-6B65-F441-B24E6AF5AC76}"/>
              </a:ext>
            </a:extLst>
          </p:cNvPr>
          <p:cNvPicPr>
            <a:picLocks noChangeAspect="1"/>
          </p:cNvPicPr>
          <p:nvPr>
            <a:audioFile r:link="rId2"/>
            <p:extLst>
              <p:ext uri="{DAA4B4D4-6D71-4841-9C94-3DE7FCFB9230}">
                <p14:media xmlns:p14="http://schemas.microsoft.com/office/powerpoint/2010/main" r:embed="rId1"/>
              </p:ext>
            </p:extLst>
          </p:nvPr>
        </p:nvPicPr>
        <p:blipFill>
          <a:blip r:embed="rId5">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532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55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
                </p:tgtEl>
              </p:cMediaNode>
            </p:audio>
          </p:childTnLst>
        </p:cTn>
      </p:par>
    </p:tnLst>
  </p:timing>
  <p:extLst>
    <p:ext uri="{E180D4A7-C9FB-4DFB-919C-405C955672EB}">
      <p14:showEvtLst xmlns:p14="http://schemas.microsoft.com/office/powerpoint/2010/main">
        <p14:playEvt time="14" objId="3"/>
        <p14:stopEvt time="15324" objId="3"/>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descr="Ein Bild, das Zimmer, Im Haus, Szene, Krankenhauszimmer enthält.&#10;&#10;KI-generierte Inhalte können fehlerhaft sein.">
            <a:extLst>
              <a:ext uri="{FF2B5EF4-FFF2-40B4-BE49-F238E27FC236}">
                <a16:creationId xmlns:a16="http://schemas.microsoft.com/office/drawing/2014/main" id="{FC7AD104-C065-0DE2-9F33-E72DAC1ED73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93988" y="1991091"/>
            <a:ext cx="3042458" cy="4563687"/>
          </a:xfrm>
          <a:prstGeom prst="rect">
            <a:avLst/>
          </a:prstGeom>
        </p:spPr>
      </p:pic>
      <p:pic>
        <p:nvPicPr>
          <p:cNvPr id="5" name="Grafik 4" descr="Ein Bild, das Kleidung, Person, Hose, stehend enthält.&#10;&#10;KI-generierte Inhalte können fehlerhaft sein.">
            <a:extLst>
              <a:ext uri="{FF2B5EF4-FFF2-40B4-BE49-F238E27FC236}">
                <a16:creationId xmlns:a16="http://schemas.microsoft.com/office/drawing/2014/main" id="{8E5411B9-D1AE-0857-E6A1-9EA20184D2F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130695" y="1952836"/>
            <a:ext cx="2205644" cy="4596938"/>
          </a:xfrm>
          <a:prstGeom prst="rect">
            <a:avLst/>
          </a:prstGeom>
        </p:spPr>
      </p:pic>
      <p:sp>
        <p:nvSpPr>
          <p:cNvPr id="3" name="Titel 2">
            <a:extLst>
              <a:ext uri="{FF2B5EF4-FFF2-40B4-BE49-F238E27FC236}">
                <a16:creationId xmlns:a16="http://schemas.microsoft.com/office/drawing/2014/main" id="{EBF30926-228C-D1C9-100C-5719A14B1394}"/>
              </a:ext>
            </a:extLst>
          </p:cNvPr>
          <p:cNvSpPr>
            <a:spLocks noGrp="1"/>
          </p:cNvSpPr>
          <p:nvPr>
            <p:ph type="title"/>
          </p:nvPr>
        </p:nvSpPr>
        <p:spPr>
          <a:xfrm>
            <a:off x="2135189" y="908050"/>
            <a:ext cx="8137525" cy="596394"/>
          </a:xfrm>
        </p:spPr>
        <p:txBody>
          <a:bodyPr>
            <a:normAutofit fontScale="90000"/>
          </a:bodyPr>
          <a:lstStyle/>
          <a:p>
            <a:pPr algn="ctr">
              <a:defRPr/>
            </a:pPr>
            <a:r>
              <a:rPr lang="de-CH" sz="3100" b="1" dirty="0">
                <a:solidFill>
                  <a:schemeClr val="tx1">
                    <a:lumMod val="85000"/>
                    <a:lumOff val="15000"/>
                  </a:schemeClr>
                </a:solidFill>
                <a:latin typeface="Arial" panose="020B0604020202020204" pitchFamily="34" charset="0"/>
                <a:cs typeface="Arial" panose="020B0604020202020204" pitchFamily="34" charset="0"/>
              </a:rPr>
              <a:t>Perspektive und Kameraposition</a:t>
            </a:r>
            <a:br>
              <a:rPr lang="de-CH" sz="2800" dirty="0">
                <a:solidFill>
                  <a:schemeClr val="tx1">
                    <a:lumMod val="85000"/>
                    <a:lumOff val="15000"/>
                  </a:schemeClr>
                </a:solidFill>
              </a:rPr>
            </a:br>
            <a:r>
              <a:rPr lang="de-CH" sz="2200" dirty="0">
                <a:solidFill>
                  <a:schemeClr val="tx1">
                    <a:lumMod val="85000"/>
                    <a:lumOff val="15000"/>
                  </a:schemeClr>
                </a:solidFill>
                <a:latin typeface="Arial" panose="020B0604020202020204" pitchFamily="34" charset="0"/>
                <a:cs typeface="Arial" panose="020B0604020202020204" pitchFamily="34" charset="0"/>
              </a:rPr>
              <a:t>- Vermeidung von Bildverzerrungen -</a:t>
            </a:r>
          </a:p>
        </p:txBody>
      </p:sp>
      <p:sp>
        <p:nvSpPr>
          <p:cNvPr id="48132" name="Textfeld 1">
            <a:extLst>
              <a:ext uri="{FF2B5EF4-FFF2-40B4-BE49-F238E27FC236}">
                <a16:creationId xmlns:a16="http://schemas.microsoft.com/office/drawing/2014/main" id="{B2388BA7-5B98-BD7A-4652-DFBEDC0E48DE}"/>
              </a:ext>
            </a:extLst>
          </p:cNvPr>
          <p:cNvSpPr txBox="1">
            <a:spLocks noChangeArrowheads="1"/>
          </p:cNvSpPr>
          <p:nvPr/>
        </p:nvSpPr>
        <p:spPr bwMode="auto">
          <a:xfrm>
            <a:off x="3503614" y="6542089"/>
            <a:ext cx="1646237"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sz="1400"/>
              <a:t>Froschperspektive</a:t>
            </a:r>
          </a:p>
        </p:txBody>
      </p:sp>
      <p:sp>
        <p:nvSpPr>
          <p:cNvPr id="48133" name="Rechteck 3">
            <a:extLst>
              <a:ext uri="{FF2B5EF4-FFF2-40B4-BE49-F238E27FC236}">
                <a16:creationId xmlns:a16="http://schemas.microsoft.com/office/drawing/2014/main" id="{5E79F8AD-441C-CF62-7305-38BF6B318481}"/>
              </a:ext>
            </a:extLst>
          </p:cNvPr>
          <p:cNvSpPr>
            <a:spLocks noChangeArrowheads="1"/>
          </p:cNvSpPr>
          <p:nvPr/>
        </p:nvSpPr>
        <p:spPr bwMode="auto">
          <a:xfrm>
            <a:off x="7427913" y="6542089"/>
            <a:ext cx="16557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sz="1400"/>
              <a:t>Zentralperspektive</a:t>
            </a:r>
          </a:p>
        </p:txBody>
      </p:sp>
      <p:pic>
        <p:nvPicPr>
          <p:cNvPr id="2" name="Audio 1">
            <a:hlinkClick r:id="" action="ppaction://media"/>
            <a:extLst>
              <a:ext uri="{FF2B5EF4-FFF2-40B4-BE49-F238E27FC236}">
                <a16:creationId xmlns:a16="http://schemas.microsoft.com/office/drawing/2014/main" id="{9A8A470B-732E-1F81-39F7-B45682BF2C67}"/>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quot;Nein&quot;-Symbol 13">
            <a:extLst>
              <a:ext uri="{FF2B5EF4-FFF2-40B4-BE49-F238E27FC236}">
                <a16:creationId xmlns:a16="http://schemas.microsoft.com/office/drawing/2014/main" id="{D50963FA-7369-1B7D-BE46-B153BC88BDB7}"/>
              </a:ext>
            </a:extLst>
          </p:cNvPr>
          <p:cNvSpPr/>
          <p:nvPr/>
        </p:nvSpPr>
        <p:spPr>
          <a:xfrm>
            <a:off x="5163321" y="6069013"/>
            <a:ext cx="828092" cy="780864"/>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solidFill>
                <a:schemeClr val="tx1"/>
              </a:solidFill>
            </a:endParaRPr>
          </a:p>
        </p:txBody>
      </p:sp>
      <p:sp>
        <p:nvSpPr>
          <p:cNvPr id="15" name="Smiley 14">
            <a:extLst>
              <a:ext uri="{FF2B5EF4-FFF2-40B4-BE49-F238E27FC236}">
                <a16:creationId xmlns:a16="http://schemas.microsoft.com/office/drawing/2014/main" id="{806E6C88-9918-D8C9-E578-68B4B802B807}"/>
              </a:ext>
            </a:extLst>
          </p:cNvPr>
          <p:cNvSpPr/>
          <p:nvPr/>
        </p:nvSpPr>
        <p:spPr>
          <a:xfrm>
            <a:off x="9012498" y="6018086"/>
            <a:ext cx="827919" cy="827919"/>
          </a:xfrm>
          <a:prstGeom prst="smileyFace">
            <a:avLst/>
          </a:prstGeom>
          <a:solidFill>
            <a:srgbClr val="92D05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0" name="Ring 9">
            <a:extLst>
              <a:ext uri="{FF2B5EF4-FFF2-40B4-BE49-F238E27FC236}">
                <a16:creationId xmlns:a16="http://schemas.microsoft.com/office/drawing/2014/main" id="{0F1EF22A-1CCB-46F3-1F80-71445B37035E}"/>
              </a:ext>
            </a:extLst>
          </p:cNvPr>
          <p:cNvSpPr/>
          <p:nvPr/>
        </p:nvSpPr>
        <p:spPr>
          <a:xfrm>
            <a:off x="5159896" y="3010042"/>
            <a:ext cx="770168" cy="2039138"/>
          </a:xfrm>
          <a:prstGeom prst="donut">
            <a:avLst>
              <a:gd name="adj" fmla="val 0"/>
            </a:avLst>
          </a:prstGeom>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Tree>
    <p:custDataLst>
      <p:tags r:id="rId1"/>
    </p:custDataLst>
  </p:cSld>
  <p:clrMapOvr>
    <a:masterClrMapping/>
  </p:clrMapOvr>
  <p:transition spd="slow" advTm="40375"/>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1" fill="hold" display="0">
                  <p:stCondLst>
                    <p:cond delay="indefinite"/>
                  </p:stCondLst>
                  <p:endCondLst>
                    <p:cond evt="onStopAudio" delay="0">
                      <p:tgtEl>
                        <p:sldTgt/>
                      </p:tgtEl>
                    </p:cond>
                  </p:endCondLst>
                </p:cTn>
                <p:tgtEl>
                  <p:spTgt spid="2"/>
                </p:tgtEl>
              </p:cMediaNode>
            </p:audio>
          </p:childTnLst>
        </p:cTn>
      </p:par>
    </p:tnLst>
    <p:bldLst>
      <p:bldP spid="15" grpId="0" animBg="1"/>
    </p:bldLst>
  </p:timing>
  <p:extLst>
    <p:ext uri="{E180D4A7-C9FB-4DFB-919C-405C955672EB}">
      <p14:showEvtLst xmlns:p14="http://schemas.microsoft.com/office/powerpoint/2010/main">
        <p14:playEvt time="12" objId="2"/>
        <p14:stopEvt time="38814" objId="2"/>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6CCB55D-39D6-CAFB-50A3-67BEE671C68A}"/>
              </a:ext>
            </a:extLst>
          </p:cNvPr>
          <p:cNvSpPr>
            <a:spLocks noGrp="1"/>
          </p:cNvSpPr>
          <p:nvPr>
            <p:ph type="title"/>
          </p:nvPr>
        </p:nvSpPr>
        <p:spPr>
          <a:xfrm>
            <a:off x="2135189" y="1592264"/>
            <a:ext cx="8137525" cy="492123"/>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Bildverzerrung &gt; Stürzende Linien</a:t>
            </a:r>
          </a:p>
        </p:txBody>
      </p:sp>
      <p:pic>
        <p:nvPicPr>
          <p:cNvPr id="50178" name="Picture 2">
            <a:extLst>
              <a:ext uri="{FF2B5EF4-FFF2-40B4-BE49-F238E27FC236}">
                <a16:creationId xmlns:a16="http://schemas.microsoft.com/office/drawing/2014/main" id="{3C085FB5-710F-19A2-E595-66D1E91D14D4}"/>
              </a:ext>
            </a:extLst>
          </p:cNvPr>
          <p:cNvPicPr>
            <a:picLocks noGrp="1" noChangeAspect="1" noChangeArrowheads="1"/>
          </p:cNvPicPr>
          <p:nvPr>
            <p:ph sz="quarter" idx="10"/>
          </p:nvPr>
        </p:nvPicPr>
        <p:blipFill>
          <a:blip r:embed="rId5" cstate="screen">
            <a:extLst>
              <a:ext uri="{28A0092B-C50C-407E-A947-70E740481C1C}">
                <a14:useLocalDpi xmlns:a14="http://schemas.microsoft.com/office/drawing/2010/main"/>
              </a:ext>
            </a:extLst>
          </a:blip>
          <a:srcRect/>
          <a:stretch>
            <a:fillRect/>
          </a:stretch>
        </p:blipFill>
        <p:spPr>
          <a:xfrm>
            <a:off x="2135189" y="3171825"/>
            <a:ext cx="8137525" cy="1809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Audio 1">
            <a:hlinkClick r:id="" action="ppaction://media"/>
            <a:extLst>
              <a:ext uri="{FF2B5EF4-FFF2-40B4-BE49-F238E27FC236}">
                <a16:creationId xmlns:a16="http://schemas.microsoft.com/office/drawing/2014/main" id="{778C2924-9E77-F6FF-C0D0-FA6DE7F6B53C}"/>
              </a:ext>
            </a:extLst>
          </p:cNvPr>
          <p:cNvPicPr>
            <a:picLocks noChangeAspect="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836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10" objId="2"/>
        <p14:stopEvt time="15424" objId="2"/>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Gerade Verbindung mit Pfeil 9">
            <a:extLst>
              <a:ext uri="{FF2B5EF4-FFF2-40B4-BE49-F238E27FC236}">
                <a16:creationId xmlns:a16="http://schemas.microsoft.com/office/drawing/2014/main" id="{E96A85C0-0AAC-DAE5-C5FA-DAC44785CF5F}"/>
              </a:ext>
            </a:extLst>
          </p:cNvPr>
          <p:cNvCxnSpPr/>
          <p:nvPr/>
        </p:nvCxnSpPr>
        <p:spPr>
          <a:xfrm flipH="1">
            <a:off x="6203951" y="3284538"/>
            <a:ext cx="9525" cy="2520950"/>
          </a:xfrm>
          <a:prstGeom prst="straightConnector1">
            <a:avLst/>
          </a:prstGeom>
          <a:ln w="38100">
            <a:solidFill>
              <a:schemeClr val="tx2"/>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1" name="Bogen 10">
            <a:extLst>
              <a:ext uri="{FF2B5EF4-FFF2-40B4-BE49-F238E27FC236}">
                <a16:creationId xmlns:a16="http://schemas.microsoft.com/office/drawing/2014/main" id="{6CEF6003-FF00-6D60-EEC7-3E6C57C8B427}"/>
              </a:ext>
            </a:extLst>
          </p:cNvPr>
          <p:cNvSpPr/>
          <p:nvPr/>
        </p:nvSpPr>
        <p:spPr>
          <a:xfrm rot="16200000">
            <a:off x="5537994" y="5103019"/>
            <a:ext cx="1295400" cy="1331912"/>
          </a:xfrm>
          <a:prstGeom prst="arc">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de-CH"/>
          </a:p>
        </p:txBody>
      </p:sp>
      <p:sp>
        <p:nvSpPr>
          <p:cNvPr id="12" name="Rechteck 11">
            <a:extLst>
              <a:ext uri="{FF2B5EF4-FFF2-40B4-BE49-F238E27FC236}">
                <a16:creationId xmlns:a16="http://schemas.microsoft.com/office/drawing/2014/main" id="{FE4E23F7-8FA9-1BBB-15BE-9BD59DF4A659}"/>
              </a:ext>
            </a:extLst>
          </p:cNvPr>
          <p:cNvSpPr/>
          <p:nvPr/>
        </p:nvSpPr>
        <p:spPr>
          <a:xfrm>
            <a:off x="5772150" y="2673350"/>
            <a:ext cx="863600" cy="395288"/>
          </a:xfrm>
          <a:prstGeom prst="rect">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3" name="Flussdiagramm: Magnetplattenspeicher 12">
            <a:extLst>
              <a:ext uri="{FF2B5EF4-FFF2-40B4-BE49-F238E27FC236}">
                <a16:creationId xmlns:a16="http://schemas.microsoft.com/office/drawing/2014/main" id="{C9C2037F-29CB-6BDF-A914-9F47351CDBDD}"/>
              </a:ext>
            </a:extLst>
          </p:cNvPr>
          <p:cNvSpPr/>
          <p:nvPr/>
        </p:nvSpPr>
        <p:spPr>
          <a:xfrm rot="10800000">
            <a:off x="5997575" y="2925764"/>
            <a:ext cx="433388" cy="358775"/>
          </a:xfrm>
          <a:prstGeom prst="flowChartMagneticDisk">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52229" name="Textfeld 15">
            <a:extLst>
              <a:ext uri="{FF2B5EF4-FFF2-40B4-BE49-F238E27FC236}">
                <a16:creationId xmlns:a16="http://schemas.microsoft.com/office/drawing/2014/main" id="{C678243A-DB76-D61F-107F-525B3C1B4059}"/>
              </a:ext>
            </a:extLst>
          </p:cNvPr>
          <p:cNvSpPr txBox="1">
            <a:spLocks noChangeArrowheads="1"/>
          </p:cNvSpPr>
          <p:nvPr/>
        </p:nvSpPr>
        <p:spPr bwMode="auto">
          <a:xfrm>
            <a:off x="5667375" y="5327650"/>
            <a:ext cx="57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sz="2000" b="1">
                <a:solidFill>
                  <a:srgbClr val="FF0000"/>
                </a:solidFill>
              </a:rPr>
              <a:t>90°</a:t>
            </a:r>
          </a:p>
        </p:txBody>
      </p:sp>
      <p:sp>
        <p:nvSpPr>
          <p:cNvPr id="18" name="Rechteck 17">
            <a:extLst>
              <a:ext uri="{FF2B5EF4-FFF2-40B4-BE49-F238E27FC236}">
                <a16:creationId xmlns:a16="http://schemas.microsoft.com/office/drawing/2014/main" id="{C046E8E3-8A4E-98BC-B269-BDDA6A0E4640}"/>
              </a:ext>
            </a:extLst>
          </p:cNvPr>
          <p:cNvSpPr/>
          <p:nvPr/>
        </p:nvSpPr>
        <p:spPr>
          <a:xfrm>
            <a:off x="4116389" y="5805488"/>
            <a:ext cx="4175125" cy="125412"/>
          </a:xfrm>
          <a:prstGeom prst="rect">
            <a:avLst/>
          </a:prstGeom>
          <a:solidFill>
            <a:schemeClr val="bg2">
              <a:lumMod val="40000"/>
              <a:lumOff val="60000"/>
            </a:schemeClr>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9" name="Titel 2">
            <a:extLst>
              <a:ext uri="{FF2B5EF4-FFF2-40B4-BE49-F238E27FC236}">
                <a16:creationId xmlns:a16="http://schemas.microsoft.com/office/drawing/2014/main" id="{2F845449-7559-3D62-517A-C451011D2B41}"/>
              </a:ext>
            </a:extLst>
          </p:cNvPr>
          <p:cNvSpPr>
            <a:spLocks noGrp="1"/>
          </p:cNvSpPr>
          <p:nvPr>
            <p:ph type="title"/>
          </p:nvPr>
        </p:nvSpPr>
        <p:spPr>
          <a:xfrm>
            <a:off x="2135189" y="1114424"/>
            <a:ext cx="8137525" cy="481293"/>
          </a:xfrm>
        </p:spPr>
        <p:txBody>
          <a:bodyPr>
            <a:normAutofit fontScale="90000"/>
          </a:bodyPr>
          <a:lstStyle/>
          <a:p>
            <a:pPr algn="ctr">
              <a:defRPr/>
            </a:pPr>
            <a:r>
              <a:rPr lang="de-CH" sz="3100" b="1" dirty="0">
                <a:solidFill>
                  <a:schemeClr val="tx1">
                    <a:lumMod val="85000"/>
                    <a:lumOff val="15000"/>
                  </a:schemeClr>
                </a:solidFill>
                <a:latin typeface="Arial" panose="020B0604020202020204" pitchFamily="34" charset="0"/>
                <a:cs typeface="Arial" panose="020B0604020202020204" pitchFamily="34" charset="0"/>
              </a:rPr>
              <a:t>Lotrechte Kameraposition zum Befund</a:t>
            </a:r>
            <a:br>
              <a:rPr lang="de-CH" sz="2800" dirty="0">
                <a:solidFill>
                  <a:schemeClr val="tx1">
                    <a:lumMod val="85000"/>
                    <a:lumOff val="15000"/>
                  </a:schemeClr>
                </a:solidFill>
                <a:latin typeface="Arial" panose="020B0604020202020204" pitchFamily="34" charset="0"/>
                <a:cs typeface="Arial" panose="020B0604020202020204" pitchFamily="34" charset="0"/>
              </a:rPr>
            </a:br>
            <a:r>
              <a:rPr lang="de-CH" sz="2200" dirty="0">
                <a:solidFill>
                  <a:schemeClr val="tx1">
                    <a:lumMod val="85000"/>
                    <a:lumOff val="15000"/>
                  </a:schemeClr>
                </a:solidFill>
                <a:latin typeface="Arial" panose="020B0604020202020204" pitchFamily="34" charset="0"/>
                <a:cs typeface="Arial" panose="020B0604020202020204" pitchFamily="34" charset="0"/>
              </a:rPr>
              <a:t>- Vermeidung von Bildverzerrungen -</a:t>
            </a:r>
          </a:p>
        </p:txBody>
      </p:sp>
      <p:pic>
        <p:nvPicPr>
          <p:cNvPr id="2" name="Audio 1">
            <a:hlinkClick r:id="" action="ppaction://media"/>
            <a:extLst>
              <a:ext uri="{FF2B5EF4-FFF2-40B4-BE49-F238E27FC236}">
                <a16:creationId xmlns:a16="http://schemas.microsoft.com/office/drawing/2014/main" id="{8D42BBE4-6CAA-2C58-56A8-19C7C73D43BD}"/>
              </a:ext>
            </a:extLst>
          </p:cNvPr>
          <p:cNvPicPr>
            <a:picLocks noChangeAspect="1"/>
          </p:cNvPicPr>
          <p:nvPr>
            <a:audioFile r:link="rId2"/>
            <p:extLst>
              <p:ext uri="{DAA4B4D4-6D71-4841-9C94-3DE7FCFB9230}">
                <p14:media xmlns:p14="http://schemas.microsoft.com/office/powerpoint/2010/main" r:embed="rId1"/>
              </p:ext>
            </p:extLst>
          </p:nvPr>
        </p:nvPicPr>
        <p:blipFill>
          <a:blip r:embed="rId5">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9587"/>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19" objId="2"/>
        <p14:stopEvt time="7236" objId="2"/>
      </p14:showEvt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Gerade Verbindung mit Pfeil 9">
            <a:extLst>
              <a:ext uri="{FF2B5EF4-FFF2-40B4-BE49-F238E27FC236}">
                <a16:creationId xmlns:a16="http://schemas.microsoft.com/office/drawing/2014/main" id="{5CAEE4DF-F5E3-F32B-8B6D-D53BDFDA32AA}"/>
              </a:ext>
            </a:extLst>
          </p:cNvPr>
          <p:cNvCxnSpPr/>
          <p:nvPr/>
        </p:nvCxnSpPr>
        <p:spPr>
          <a:xfrm flipH="1">
            <a:off x="4116388" y="4257675"/>
            <a:ext cx="2374900" cy="0"/>
          </a:xfrm>
          <a:prstGeom prst="straightConnector1">
            <a:avLst/>
          </a:prstGeom>
          <a:ln w="38100">
            <a:solidFill>
              <a:schemeClr val="tx2"/>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1" name="Bogen 10">
            <a:extLst>
              <a:ext uri="{FF2B5EF4-FFF2-40B4-BE49-F238E27FC236}">
                <a16:creationId xmlns:a16="http://schemas.microsoft.com/office/drawing/2014/main" id="{53DB7B06-7A25-5E95-80E1-12C4B7E66CDE}"/>
              </a:ext>
            </a:extLst>
          </p:cNvPr>
          <p:cNvSpPr/>
          <p:nvPr/>
        </p:nvSpPr>
        <p:spPr>
          <a:xfrm>
            <a:off x="3503613" y="3573463"/>
            <a:ext cx="1295400" cy="1331912"/>
          </a:xfrm>
          <a:prstGeom prst="arc">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de-CH"/>
          </a:p>
        </p:txBody>
      </p:sp>
      <p:sp>
        <p:nvSpPr>
          <p:cNvPr id="12" name="Rechteck 11">
            <a:extLst>
              <a:ext uri="{FF2B5EF4-FFF2-40B4-BE49-F238E27FC236}">
                <a16:creationId xmlns:a16="http://schemas.microsoft.com/office/drawing/2014/main" id="{9CCAD8F4-E207-E575-2B23-7F292B01CC1D}"/>
              </a:ext>
            </a:extLst>
          </p:cNvPr>
          <p:cNvSpPr/>
          <p:nvPr/>
        </p:nvSpPr>
        <p:spPr>
          <a:xfrm rot="5400000">
            <a:off x="6510338" y="4059238"/>
            <a:ext cx="863600" cy="396875"/>
          </a:xfrm>
          <a:prstGeom prst="rect">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3" name="Flussdiagramm: Magnetplattenspeicher 12">
            <a:extLst>
              <a:ext uri="{FF2B5EF4-FFF2-40B4-BE49-F238E27FC236}">
                <a16:creationId xmlns:a16="http://schemas.microsoft.com/office/drawing/2014/main" id="{494AB0E9-BB20-24A8-E0E3-D9B042BD5BDD}"/>
              </a:ext>
            </a:extLst>
          </p:cNvPr>
          <p:cNvSpPr/>
          <p:nvPr/>
        </p:nvSpPr>
        <p:spPr>
          <a:xfrm rot="16200000">
            <a:off x="6456363" y="4078288"/>
            <a:ext cx="431800" cy="358775"/>
          </a:xfrm>
          <a:prstGeom prst="flowChartMagneticDisk">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54277" name="Textfeld 15">
            <a:extLst>
              <a:ext uri="{FF2B5EF4-FFF2-40B4-BE49-F238E27FC236}">
                <a16:creationId xmlns:a16="http://schemas.microsoft.com/office/drawing/2014/main" id="{4647580D-7125-CDD4-7D4F-D3D1CA10B570}"/>
              </a:ext>
            </a:extLst>
          </p:cNvPr>
          <p:cNvSpPr txBox="1">
            <a:spLocks noChangeArrowheads="1"/>
          </p:cNvSpPr>
          <p:nvPr/>
        </p:nvSpPr>
        <p:spPr bwMode="auto">
          <a:xfrm>
            <a:off x="4151314" y="3789363"/>
            <a:ext cx="573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sz="2000" b="1">
                <a:solidFill>
                  <a:srgbClr val="FF0000"/>
                </a:solidFill>
              </a:rPr>
              <a:t>90°</a:t>
            </a:r>
          </a:p>
        </p:txBody>
      </p:sp>
      <p:sp>
        <p:nvSpPr>
          <p:cNvPr id="18" name="Rechteck 17">
            <a:extLst>
              <a:ext uri="{FF2B5EF4-FFF2-40B4-BE49-F238E27FC236}">
                <a16:creationId xmlns:a16="http://schemas.microsoft.com/office/drawing/2014/main" id="{048F2C4C-096C-50E7-8579-7574335FD947}"/>
              </a:ext>
            </a:extLst>
          </p:cNvPr>
          <p:cNvSpPr/>
          <p:nvPr/>
        </p:nvSpPr>
        <p:spPr>
          <a:xfrm rot="16200000">
            <a:off x="1965326" y="4194176"/>
            <a:ext cx="4175125" cy="127000"/>
          </a:xfrm>
          <a:prstGeom prst="rect">
            <a:avLst/>
          </a:prstGeom>
          <a:solidFill>
            <a:schemeClr val="bg2">
              <a:lumMod val="40000"/>
              <a:lumOff val="60000"/>
            </a:schemeClr>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9" name="Titel 2">
            <a:extLst>
              <a:ext uri="{FF2B5EF4-FFF2-40B4-BE49-F238E27FC236}">
                <a16:creationId xmlns:a16="http://schemas.microsoft.com/office/drawing/2014/main" id="{97C5A3E8-38A0-1D81-4A08-9595B71EF6FE}"/>
              </a:ext>
            </a:extLst>
          </p:cNvPr>
          <p:cNvSpPr>
            <a:spLocks noGrp="1"/>
          </p:cNvSpPr>
          <p:nvPr>
            <p:ph type="title"/>
          </p:nvPr>
        </p:nvSpPr>
        <p:spPr>
          <a:xfrm>
            <a:off x="2135189" y="1114425"/>
            <a:ext cx="8137525" cy="499222"/>
          </a:xfrm>
        </p:spPr>
        <p:txBody>
          <a:bodyPr>
            <a:normAutofit fontScale="90000"/>
          </a:bodyPr>
          <a:lstStyle/>
          <a:p>
            <a:pPr algn="ctr">
              <a:defRPr/>
            </a:pPr>
            <a:r>
              <a:rPr lang="de-CH" sz="3100" b="1" dirty="0">
                <a:solidFill>
                  <a:schemeClr val="tx1">
                    <a:lumMod val="85000"/>
                    <a:lumOff val="15000"/>
                  </a:schemeClr>
                </a:solidFill>
                <a:latin typeface="Arial" panose="020B0604020202020204" pitchFamily="34" charset="0"/>
                <a:cs typeface="Arial" panose="020B0604020202020204" pitchFamily="34" charset="0"/>
              </a:rPr>
              <a:t>Lotrechte Kameraposition zum Befund</a:t>
            </a:r>
            <a:br>
              <a:rPr lang="de-CH" sz="2800" dirty="0">
                <a:solidFill>
                  <a:schemeClr val="tx1">
                    <a:lumMod val="85000"/>
                    <a:lumOff val="15000"/>
                  </a:schemeClr>
                </a:solidFill>
                <a:latin typeface="Arial" panose="020B0604020202020204" pitchFamily="34" charset="0"/>
                <a:cs typeface="Arial" panose="020B0604020202020204" pitchFamily="34" charset="0"/>
              </a:rPr>
            </a:br>
            <a:r>
              <a:rPr lang="de-CH" sz="2200" dirty="0">
                <a:solidFill>
                  <a:schemeClr val="tx1">
                    <a:lumMod val="85000"/>
                    <a:lumOff val="15000"/>
                  </a:schemeClr>
                </a:solidFill>
                <a:latin typeface="Arial" panose="020B0604020202020204" pitchFamily="34" charset="0"/>
                <a:cs typeface="Arial" panose="020B0604020202020204" pitchFamily="34" charset="0"/>
              </a:rPr>
              <a:t>- Vermeidung von Bildverzerrungen -</a:t>
            </a:r>
          </a:p>
        </p:txBody>
      </p:sp>
    </p:spTree>
  </p:cSld>
  <p:clrMapOvr>
    <a:masterClrMapping/>
  </p:clrMapOvr>
  <p:transition spd="slow" advTm="4746"/>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Inhaltsplatzhalter 1">
            <a:extLst>
              <a:ext uri="{FF2B5EF4-FFF2-40B4-BE49-F238E27FC236}">
                <a16:creationId xmlns:a16="http://schemas.microsoft.com/office/drawing/2014/main" id="{CFC31C95-195F-AA98-ADC5-FE2F5B64D6F3}"/>
              </a:ext>
            </a:extLst>
          </p:cNvPr>
          <p:cNvSpPr>
            <a:spLocks noGrp="1"/>
          </p:cNvSpPr>
          <p:nvPr>
            <p:ph sz="quarter" idx="10"/>
          </p:nvPr>
        </p:nvSpPr>
        <p:spPr/>
        <p:txBody>
          <a:bodyPr/>
          <a:lstStyle/>
          <a:p>
            <a:pPr marL="0" indent="0"/>
            <a:endParaRPr lang="de-DE" altLang="de-DE" dirty="0">
              <a:latin typeface="Arial" panose="020B0604020202020204" pitchFamily="34" charset="0"/>
              <a:cs typeface="Arial" panose="020B0604020202020204" pitchFamily="34" charset="0"/>
            </a:endParaRPr>
          </a:p>
          <a:p>
            <a:pPr marL="0" indent="0">
              <a:buNone/>
            </a:pPr>
            <a:r>
              <a:rPr lang="de-DE" altLang="de-DE" sz="1800" dirty="0">
                <a:latin typeface="Arial" panose="020B0604020202020204" pitchFamily="34" charset="0"/>
                <a:cs typeface="Arial" panose="020B0604020202020204" pitchFamily="34" charset="0"/>
              </a:rPr>
              <a:t>Kamera</a:t>
            </a:r>
            <a:r>
              <a:rPr lang="de-DE" altLang="de-DE" dirty="0">
                <a:latin typeface="Arial" panose="020B0604020202020204" pitchFamily="34" charset="0"/>
                <a:cs typeface="Arial" panose="020B0604020202020204" pitchFamily="34" charset="0"/>
              </a:rPr>
              <a:t> </a:t>
            </a:r>
            <a:r>
              <a:rPr lang="de-DE" altLang="de-DE" sz="3600" b="1" dirty="0">
                <a:latin typeface="Arial" panose="020B0604020202020204" pitchFamily="34" charset="0"/>
                <a:cs typeface="Arial" panose="020B0604020202020204" pitchFamily="34" charset="0"/>
              </a:rPr>
              <a:t>senkrecht (orthogonal/lotrecht)</a:t>
            </a:r>
          </a:p>
          <a:p>
            <a:pPr marL="0" indent="0">
              <a:buNone/>
            </a:pPr>
            <a:r>
              <a:rPr lang="de-DE" altLang="de-DE" sz="1800" dirty="0">
                <a:latin typeface="Arial" panose="020B0604020202020204" pitchFamily="34" charset="0"/>
                <a:cs typeface="Arial" panose="020B0604020202020204" pitchFamily="34" charset="0"/>
              </a:rPr>
              <a:t>zum Motiv von Interesse halten</a:t>
            </a:r>
          </a:p>
        </p:txBody>
      </p:sp>
      <p:sp>
        <p:nvSpPr>
          <p:cNvPr id="56322" name="Titel 2">
            <a:extLst>
              <a:ext uri="{FF2B5EF4-FFF2-40B4-BE49-F238E27FC236}">
                <a16:creationId xmlns:a16="http://schemas.microsoft.com/office/drawing/2014/main" id="{482B6BDD-97E8-D8F7-BE0B-9BF952217705}"/>
              </a:ext>
            </a:extLst>
          </p:cNvPr>
          <p:cNvSpPr>
            <a:spLocks noGrp="1"/>
          </p:cNvSpPr>
          <p:nvPr>
            <p:ph type="title"/>
          </p:nvPr>
        </p:nvSpPr>
        <p:spPr>
          <a:xfrm>
            <a:off x="814918" y="732678"/>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855"/>
    </mc:Choice>
    <mc:Fallback xmlns="">
      <p:transition spd="slow" advTm="585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4BA02FA-2CDC-5CE1-0EAE-07391FF9EEC2}"/>
              </a:ext>
            </a:extLst>
          </p:cNvPr>
          <p:cNvSpPr>
            <a:spLocks noGrp="1"/>
          </p:cNvSpPr>
          <p:nvPr>
            <p:ph type="title"/>
          </p:nvPr>
        </p:nvSpPr>
        <p:spPr>
          <a:xfrm>
            <a:off x="2135189" y="1268414"/>
            <a:ext cx="8137525" cy="555941"/>
          </a:xfrm>
        </p:spPr>
        <p:txBody>
          <a:bodyPr>
            <a:normAutofit fontScale="90000"/>
          </a:bodyPr>
          <a:lstStyle/>
          <a:p>
            <a:pPr algn="ctr">
              <a:defRPr/>
            </a:pPr>
            <a:r>
              <a:rPr lang="de-CH" sz="3100" b="1" dirty="0">
                <a:solidFill>
                  <a:schemeClr val="tx1">
                    <a:lumMod val="85000"/>
                    <a:lumOff val="15000"/>
                  </a:schemeClr>
                </a:solidFill>
                <a:latin typeface="Arial" panose="020B0604020202020204" pitchFamily="34" charset="0"/>
                <a:cs typeface="Arial" panose="020B0604020202020204" pitchFamily="34" charset="0"/>
              </a:rPr>
              <a:t>Perspektive und Kameraposition</a:t>
            </a:r>
            <a:br>
              <a:rPr lang="de-CH" sz="2800" dirty="0">
                <a:solidFill>
                  <a:schemeClr val="tx1">
                    <a:lumMod val="85000"/>
                    <a:lumOff val="15000"/>
                  </a:schemeClr>
                </a:solidFill>
              </a:rPr>
            </a:br>
            <a:r>
              <a:rPr lang="de-CH" sz="2200" dirty="0">
                <a:solidFill>
                  <a:schemeClr val="tx1">
                    <a:lumMod val="85000"/>
                    <a:lumOff val="15000"/>
                  </a:schemeClr>
                </a:solidFill>
                <a:latin typeface="Arial" panose="020B0604020202020204" pitchFamily="34" charset="0"/>
                <a:cs typeface="Arial" panose="020B0604020202020204" pitchFamily="34" charset="0"/>
              </a:rPr>
              <a:t>- Vermeidung stürzender Linien durch lotrechte Zentralperspektive -</a:t>
            </a:r>
          </a:p>
        </p:txBody>
      </p:sp>
      <p:pic>
        <p:nvPicPr>
          <p:cNvPr id="57346" name="Grafik 4">
            <a:extLst>
              <a:ext uri="{FF2B5EF4-FFF2-40B4-BE49-F238E27FC236}">
                <a16:creationId xmlns:a16="http://schemas.microsoft.com/office/drawing/2014/main" id="{3C674109-1D78-65B6-AF81-84ECDAF262E8}"/>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097089" y="2636838"/>
            <a:ext cx="4035425"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Grafik 5">
            <a:extLst>
              <a:ext uri="{FF2B5EF4-FFF2-40B4-BE49-F238E27FC236}">
                <a16:creationId xmlns:a16="http://schemas.microsoft.com/office/drawing/2014/main" id="{EA22A404-6D6E-CA2D-177F-361E023B2DBF}"/>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275389" y="2647951"/>
            <a:ext cx="4035425"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quot;Nein&quot;-Symbol 18">
            <a:extLst>
              <a:ext uri="{FF2B5EF4-FFF2-40B4-BE49-F238E27FC236}">
                <a16:creationId xmlns:a16="http://schemas.microsoft.com/office/drawing/2014/main" id="{AAA1D9BA-493F-3408-4CF3-42704A636E9F}"/>
              </a:ext>
            </a:extLst>
          </p:cNvPr>
          <p:cNvSpPr/>
          <p:nvPr/>
        </p:nvSpPr>
        <p:spPr>
          <a:xfrm>
            <a:off x="5051884" y="4474306"/>
            <a:ext cx="1153654" cy="1150938"/>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solidFill>
                <a:schemeClr val="tx1"/>
              </a:solidFill>
            </a:endParaRPr>
          </a:p>
        </p:txBody>
      </p:sp>
      <p:sp>
        <p:nvSpPr>
          <p:cNvPr id="2" name="Smiley 1">
            <a:extLst>
              <a:ext uri="{FF2B5EF4-FFF2-40B4-BE49-F238E27FC236}">
                <a16:creationId xmlns:a16="http://schemas.microsoft.com/office/drawing/2014/main" id="{3CCF562D-7CE8-C2AE-FA60-08E42AF8AB90}"/>
              </a:ext>
            </a:extLst>
          </p:cNvPr>
          <p:cNvSpPr/>
          <p:nvPr/>
        </p:nvSpPr>
        <p:spPr>
          <a:xfrm>
            <a:off x="9300530" y="4365278"/>
            <a:ext cx="1223963" cy="1223963"/>
          </a:xfrm>
          <a:prstGeom prst="smileyFace">
            <a:avLst/>
          </a:prstGeom>
          <a:solidFill>
            <a:srgbClr val="92D05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pic>
        <p:nvPicPr>
          <p:cNvPr id="4" name="Audio 3">
            <a:hlinkClick r:id="" action="ppaction://media"/>
            <a:extLst>
              <a:ext uri="{FF2B5EF4-FFF2-40B4-BE49-F238E27FC236}">
                <a16:creationId xmlns:a16="http://schemas.microsoft.com/office/drawing/2014/main" id="{8984828D-A0F8-219E-C7F4-58234D625A84}"/>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feld 8">
            <a:extLst>
              <a:ext uri="{FF2B5EF4-FFF2-40B4-BE49-F238E27FC236}">
                <a16:creationId xmlns:a16="http://schemas.microsoft.com/office/drawing/2014/main" id="{7375B69A-096A-5DA5-EB15-FEFDC7B6A45D}"/>
              </a:ext>
            </a:extLst>
          </p:cNvPr>
          <p:cNvSpPr txBox="1"/>
          <p:nvPr/>
        </p:nvSpPr>
        <p:spPr>
          <a:xfrm>
            <a:off x="6456040" y="5447617"/>
            <a:ext cx="3528392" cy="95410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Positives Beispiel:</a:t>
            </a:r>
          </a:p>
          <a:p>
            <a:r>
              <a:rPr lang="de-DE" sz="1400" dirty="0">
                <a:latin typeface="Arial" panose="020B0604020202020204" pitchFamily="34" charset="0"/>
                <a:cs typeface="Arial" panose="020B0604020202020204" pitchFamily="34" charset="0"/>
              </a:rPr>
              <a:t>- Befund und </a:t>
            </a:r>
            <a:r>
              <a:rPr lang="de-DE" sz="1400" dirty="0" err="1">
                <a:latin typeface="Arial" panose="020B0604020202020204" pitchFamily="34" charset="0"/>
                <a:cs typeface="Arial" panose="020B0604020202020204" pitchFamily="34" charset="0"/>
              </a:rPr>
              <a:t>Massstab</a:t>
            </a:r>
            <a:r>
              <a:rPr lang="de-DE" sz="1400" dirty="0">
                <a:latin typeface="Arial" panose="020B0604020202020204" pitchFamily="34" charset="0"/>
                <a:cs typeface="Arial" panose="020B0604020202020204" pitchFamily="34" charset="0"/>
              </a:rPr>
              <a:t> in </a:t>
            </a:r>
            <a:r>
              <a:rPr lang="de-DE" sz="1400" u="sng" dirty="0">
                <a:latin typeface="Arial" panose="020B0604020202020204" pitchFamily="34" charset="0"/>
                <a:cs typeface="Arial" panose="020B0604020202020204" pitchFamily="34" charset="0"/>
              </a:rPr>
              <a:t>einer Ebene</a:t>
            </a:r>
            <a:endParaRPr lang="de-DE" sz="1400" dirty="0">
              <a:latin typeface="Arial" panose="020B0604020202020204" pitchFamily="34" charset="0"/>
              <a:cs typeface="Arial" panose="020B0604020202020204" pitchFamily="34" charset="0"/>
            </a:endParaRPr>
          </a:p>
          <a:p>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Winkelmass</a:t>
            </a:r>
            <a:r>
              <a:rPr lang="de-DE" sz="1400" dirty="0">
                <a:latin typeface="Arial" panose="020B0604020202020204" pitchFamily="34" charset="0"/>
                <a:cs typeface="Arial" panose="020B0604020202020204" pitchFamily="34" charset="0"/>
              </a:rPr>
              <a:t> parallel zu den Rändern</a:t>
            </a:r>
          </a:p>
          <a:p>
            <a:r>
              <a:rPr lang="de-DE" sz="1400" dirty="0">
                <a:latin typeface="Arial" panose="020B0604020202020204" pitchFamily="34" charset="0"/>
                <a:cs typeface="Arial" panose="020B0604020202020204" pitchFamily="34" charset="0"/>
              </a:rPr>
              <a:t>- Blitz zugeschaltet</a:t>
            </a:r>
          </a:p>
        </p:txBody>
      </p:sp>
      <p:sp>
        <p:nvSpPr>
          <p:cNvPr id="10" name="Textfeld 9">
            <a:extLst>
              <a:ext uri="{FF2B5EF4-FFF2-40B4-BE49-F238E27FC236}">
                <a16:creationId xmlns:a16="http://schemas.microsoft.com/office/drawing/2014/main" id="{D81DB60B-2710-5951-88CE-7AB731D1910D}"/>
              </a:ext>
            </a:extLst>
          </p:cNvPr>
          <p:cNvSpPr txBox="1"/>
          <p:nvPr/>
        </p:nvSpPr>
        <p:spPr>
          <a:xfrm>
            <a:off x="2207568" y="5486662"/>
            <a:ext cx="3636404" cy="1384995"/>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Negatives Beispiel:</a:t>
            </a:r>
          </a:p>
          <a:p>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Winkelmass</a:t>
            </a:r>
            <a:r>
              <a:rPr lang="de-DE" sz="1400" dirty="0">
                <a:latin typeface="Arial" panose="020B0604020202020204" pitchFamily="34" charset="0"/>
                <a:cs typeface="Arial" panose="020B0604020202020204" pitchFamily="34" charset="0"/>
              </a:rPr>
              <a:t> nicht </a:t>
            </a:r>
            <a:r>
              <a:rPr lang="de-DE" sz="1400" dirty="0" err="1">
                <a:latin typeface="Arial" panose="020B0604020202020204" pitchFamily="34" charset="0"/>
                <a:cs typeface="Arial" panose="020B0604020202020204" pitchFamily="34" charset="0"/>
              </a:rPr>
              <a:t>paralell</a:t>
            </a:r>
            <a:r>
              <a:rPr lang="de-DE" sz="1400" dirty="0">
                <a:latin typeface="Arial" panose="020B0604020202020204" pitchFamily="34" charset="0"/>
                <a:cs typeface="Arial" panose="020B0604020202020204" pitchFamily="34" charset="0"/>
              </a:rPr>
              <a:t> zu den Rändern</a:t>
            </a:r>
          </a:p>
          <a:p>
            <a:r>
              <a:rPr lang="de-DE" sz="1400" dirty="0">
                <a:latin typeface="Arial" panose="020B0604020202020204" pitchFamily="34" charset="0"/>
                <a:cs typeface="Arial" panose="020B0604020202020204" pitchFamily="34" charset="0"/>
              </a:rPr>
              <a:t>- Befund und </a:t>
            </a:r>
            <a:r>
              <a:rPr lang="de-DE" sz="1400" dirty="0" err="1">
                <a:latin typeface="Arial" panose="020B0604020202020204" pitchFamily="34" charset="0"/>
                <a:cs typeface="Arial" panose="020B0604020202020204" pitchFamily="34" charset="0"/>
              </a:rPr>
              <a:t>Massstab</a:t>
            </a:r>
            <a:r>
              <a:rPr lang="de-DE" sz="1400" dirty="0">
                <a:latin typeface="Arial" panose="020B0604020202020204" pitchFamily="34" charset="0"/>
                <a:cs typeface="Arial" panose="020B0604020202020204" pitchFamily="34" charset="0"/>
              </a:rPr>
              <a:t> </a:t>
            </a:r>
            <a:r>
              <a:rPr lang="de-DE" sz="1400" u="sng" dirty="0">
                <a:latin typeface="Arial" panose="020B0604020202020204" pitchFamily="34" charset="0"/>
                <a:cs typeface="Arial" panose="020B0604020202020204" pitchFamily="34" charset="0"/>
              </a:rPr>
              <a:t>nicht</a:t>
            </a:r>
            <a:r>
              <a:rPr lang="de-DE" sz="1400" dirty="0">
                <a:latin typeface="Arial" panose="020B0604020202020204" pitchFamily="34" charset="0"/>
                <a:cs typeface="Arial" panose="020B0604020202020204" pitchFamily="34" charset="0"/>
              </a:rPr>
              <a:t> in einer Ebene</a:t>
            </a:r>
          </a:p>
          <a:p>
            <a:r>
              <a:rPr lang="de-DE" sz="1400" dirty="0">
                <a:latin typeface="Arial" panose="020B0604020202020204" pitchFamily="34" charset="0"/>
                <a:cs typeface="Arial" panose="020B0604020202020204" pitchFamily="34" charset="0"/>
              </a:rPr>
              <a:t>- schlechte Lichtverhältnisse (kein Blitz)</a:t>
            </a:r>
          </a:p>
          <a:p>
            <a:endParaRPr lang="de-DE" sz="1400" dirty="0"/>
          </a:p>
          <a:p>
            <a:endParaRPr lang="de-DE" sz="1400" dirty="0"/>
          </a:p>
        </p:txBody>
      </p:sp>
    </p:spTree>
    <p:custDataLst>
      <p:tags r:id="rId1"/>
    </p:custDataLst>
  </p:cSld>
  <p:clrMapOvr>
    <a:masterClrMapping/>
  </p:clrMapOvr>
  <p:transition spd="slow" advTm="35145"/>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16"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p:cTn id="11" dur="500" fill="hold"/>
                                        <p:tgtEl>
                                          <p:spTgt spid="19"/>
                                        </p:tgtEl>
                                        <p:attrNameLst>
                                          <p:attrName>ppt_w</p:attrName>
                                        </p:attrNameLst>
                                      </p:cBhvr>
                                      <p:tavLst>
                                        <p:tav tm="0">
                                          <p:val>
                                            <p:fltVal val="0"/>
                                          </p:val>
                                        </p:tav>
                                        <p:tav tm="100000">
                                          <p:val>
                                            <p:strVal val="#ppt_w"/>
                                          </p:val>
                                        </p:tav>
                                      </p:tavLst>
                                    </p:anim>
                                    <p:anim calcmode="lin" valueType="num">
                                      <p:cBhvr>
                                        <p:cTn id="12" dur="500" fill="hold"/>
                                        <p:tgtEl>
                                          <p:spTgt spid="19"/>
                                        </p:tgtEl>
                                        <p:attrNameLst>
                                          <p:attrName>ppt_h</p:attrName>
                                        </p:attrNameLst>
                                      </p:cBhvr>
                                      <p:tavLst>
                                        <p:tav tm="0">
                                          <p:val>
                                            <p:fltVal val="0"/>
                                          </p:val>
                                        </p:tav>
                                        <p:tav tm="100000">
                                          <p:val>
                                            <p:strVal val="#ppt_h"/>
                                          </p:val>
                                        </p:tav>
                                      </p:tavLst>
                                    </p:anim>
                                    <p:animEffect transition="in" filter="fade">
                                      <p:cBhvr>
                                        <p:cTn id="13" dur="500"/>
                                        <p:tgtEl>
                                          <p:spTgt spid="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1" fill="hold" display="0">
                  <p:stCondLst>
                    <p:cond delay="indefinite"/>
                  </p:stCondLst>
                  <p:endCondLst>
                    <p:cond evt="onStopAudio" delay="0">
                      <p:tgtEl>
                        <p:sldTgt/>
                      </p:tgtEl>
                    </p:cond>
                  </p:endCondLst>
                </p:cTn>
                <p:tgtEl>
                  <p:spTgt spid="4"/>
                </p:tgtEl>
              </p:cMediaNode>
            </p:audio>
          </p:childTnLst>
        </p:cTn>
      </p:par>
    </p:tnLst>
    <p:bldLst>
      <p:bldP spid="2" grpId="0" animBg="1"/>
    </p:bldLst>
  </p:timing>
  <p:extLst>
    <p:ext uri="{E180D4A7-C9FB-4DFB-919C-405C955672EB}">
      <p14:showEvtLst xmlns:p14="http://schemas.microsoft.com/office/powerpoint/2010/main">
        <p14:playEvt time="18" objId="4"/>
        <p14:stopEvt time="26184" objId="4"/>
      </p14:showEvt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Person enthält.&#10;&#10;KI-generierte Inhalte können fehlerhaft sein.">
            <a:extLst>
              <a:ext uri="{FF2B5EF4-FFF2-40B4-BE49-F238E27FC236}">
                <a16:creationId xmlns:a16="http://schemas.microsoft.com/office/drawing/2014/main" id="{6823C89A-7697-A42D-48AC-FA26431BF94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300789" y="2638079"/>
            <a:ext cx="4128655" cy="2687782"/>
          </a:xfrm>
          <a:prstGeom prst="rect">
            <a:avLst/>
          </a:prstGeom>
        </p:spPr>
      </p:pic>
      <p:sp>
        <p:nvSpPr>
          <p:cNvPr id="3" name="Titel 2">
            <a:extLst>
              <a:ext uri="{FF2B5EF4-FFF2-40B4-BE49-F238E27FC236}">
                <a16:creationId xmlns:a16="http://schemas.microsoft.com/office/drawing/2014/main" id="{20EA11B6-D331-0499-AF4D-7EF4EF8EA3CB}"/>
              </a:ext>
            </a:extLst>
          </p:cNvPr>
          <p:cNvSpPr>
            <a:spLocks noGrp="1"/>
          </p:cNvSpPr>
          <p:nvPr>
            <p:ph type="title"/>
          </p:nvPr>
        </p:nvSpPr>
        <p:spPr>
          <a:xfrm>
            <a:off x="2135189" y="1268414"/>
            <a:ext cx="8137525" cy="369887"/>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Kameraposition und Schärfenebene</a:t>
            </a:r>
          </a:p>
        </p:txBody>
      </p:sp>
      <p:pic>
        <p:nvPicPr>
          <p:cNvPr id="59394" name="Grafik 3">
            <a:extLst>
              <a:ext uri="{FF2B5EF4-FFF2-40B4-BE49-F238E27FC236}">
                <a16:creationId xmlns:a16="http://schemas.microsoft.com/office/drawing/2014/main" id="{23D216EE-706B-27FD-10EF-37D1BB2E637F}"/>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63751" y="2636838"/>
            <a:ext cx="4035425"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Audio 1">
            <a:hlinkClick r:id="" action="ppaction://media"/>
            <a:extLst>
              <a:ext uri="{FF2B5EF4-FFF2-40B4-BE49-F238E27FC236}">
                <a16:creationId xmlns:a16="http://schemas.microsoft.com/office/drawing/2014/main" id="{6E8244AB-A63C-9687-14CF-F8EB12199B97}"/>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feld 5">
            <a:extLst>
              <a:ext uri="{FF2B5EF4-FFF2-40B4-BE49-F238E27FC236}">
                <a16:creationId xmlns:a16="http://schemas.microsoft.com/office/drawing/2014/main" id="{8A71AAA0-B48A-8D77-486E-2DF7543FA254}"/>
              </a:ext>
            </a:extLst>
          </p:cNvPr>
          <p:cNvSpPr txBox="1"/>
          <p:nvPr/>
        </p:nvSpPr>
        <p:spPr>
          <a:xfrm>
            <a:off x="2063750" y="5445224"/>
            <a:ext cx="3528392"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Negatives Beispiel:</a:t>
            </a:r>
          </a:p>
          <a:p>
            <a:r>
              <a:rPr lang="de-DE" sz="1400" dirty="0">
                <a:latin typeface="Arial" panose="020B0604020202020204" pitchFamily="34" charset="0"/>
                <a:cs typeface="Arial" panose="020B0604020202020204" pitchFamily="34" charset="0"/>
              </a:rPr>
              <a:t>Befund und </a:t>
            </a:r>
            <a:r>
              <a:rPr lang="de-DE" sz="1400" dirty="0" err="1">
                <a:latin typeface="Arial" panose="020B0604020202020204" pitchFamily="34" charset="0"/>
                <a:cs typeface="Arial" panose="020B0604020202020204" pitchFamily="34" charset="0"/>
              </a:rPr>
              <a:t>Massstab</a:t>
            </a:r>
            <a:r>
              <a:rPr lang="de-DE" sz="1400" dirty="0">
                <a:latin typeface="Arial" panose="020B0604020202020204" pitchFamily="34" charset="0"/>
                <a:cs typeface="Arial" panose="020B0604020202020204" pitchFamily="34" charset="0"/>
              </a:rPr>
              <a:t> </a:t>
            </a:r>
            <a:r>
              <a:rPr lang="de-DE" sz="1400" u="sng" dirty="0">
                <a:latin typeface="Arial" panose="020B0604020202020204" pitchFamily="34" charset="0"/>
                <a:cs typeface="Arial" panose="020B0604020202020204" pitchFamily="34" charset="0"/>
              </a:rPr>
              <a:t>nicht</a:t>
            </a:r>
            <a:r>
              <a:rPr lang="de-DE" sz="1400" dirty="0">
                <a:latin typeface="Arial" panose="020B0604020202020204" pitchFamily="34" charset="0"/>
                <a:cs typeface="Arial" panose="020B0604020202020204" pitchFamily="34" charset="0"/>
              </a:rPr>
              <a:t> in einer Ebene</a:t>
            </a:r>
          </a:p>
        </p:txBody>
      </p:sp>
      <p:sp>
        <p:nvSpPr>
          <p:cNvPr id="9" name="Textfeld 8">
            <a:extLst>
              <a:ext uri="{FF2B5EF4-FFF2-40B4-BE49-F238E27FC236}">
                <a16:creationId xmlns:a16="http://schemas.microsoft.com/office/drawing/2014/main" id="{1B704912-55A2-0E5E-7CED-0DB8827E3C56}"/>
              </a:ext>
            </a:extLst>
          </p:cNvPr>
          <p:cNvSpPr txBox="1"/>
          <p:nvPr/>
        </p:nvSpPr>
        <p:spPr>
          <a:xfrm>
            <a:off x="6303963" y="5445224"/>
            <a:ext cx="3528392"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Positives Beispiel:</a:t>
            </a:r>
          </a:p>
          <a:p>
            <a:r>
              <a:rPr lang="de-DE" sz="1400" dirty="0">
                <a:latin typeface="Arial" panose="020B0604020202020204" pitchFamily="34" charset="0"/>
                <a:cs typeface="Arial" panose="020B0604020202020204" pitchFamily="34" charset="0"/>
              </a:rPr>
              <a:t>Befund und </a:t>
            </a:r>
            <a:r>
              <a:rPr lang="de-DE" sz="1400" dirty="0" err="1">
                <a:latin typeface="Arial" panose="020B0604020202020204" pitchFamily="34" charset="0"/>
                <a:cs typeface="Arial" panose="020B0604020202020204" pitchFamily="34" charset="0"/>
              </a:rPr>
              <a:t>Massstab</a:t>
            </a:r>
            <a:r>
              <a:rPr lang="de-DE" sz="1400" dirty="0">
                <a:latin typeface="Arial" panose="020B0604020202020204" pitchFamily="34" charset="0"/>
                <a:cs typeface="Arial" panose="020B0604020202020204" pitchFamily="34" charset="0"/>
              </a:rPr>
              <a:t> in </a:t>
            </a:r>
            <a:r>
              <a:rPr lang="de-DE" sz="1400" u="sng" dirty="0">
                <a:latin typeface="Arial" panose="020B0604020202020204" pitchFamily="34" charset="0"/>
                <a:cs typeface="Arial" panose="020B0604020202020204" pitchFamily="34" charset="0"/>
              </a:rPr>
              <a:t>einer Ebene</a:t>
            </a:r>
          </a:p>
        </p:txBody>
      </p:sp>
      <p:sp>
        <p:nvSpPr>
          <p:cNvPr id="10" name="&quot;Nein&quot;-Symbol 9">
            <a:extLst>
              <a:ext uri="{FF2B5EF4-FFF2-40B4-BE49-F238E27FC236}">
                <a16:creationId xmlns:a16="http://schemas.microsoft.com/office/drawing/2014/main" id="{D05FCB8D-5BCD-1B9A-446F-BC8BC4C281D9}"/>
              </a:ext>
            </a:extLst>
          </p:cNvPr>
          <p:cNvSpPr/>
          <p:nvPr/>
        </p:nvSpPr>
        <p:spPr>
          <a:xfrm>
            <a:off x="5232524" y="4813911"/>
            <a:ext cx="863476" cy="899517"/>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solidFill>
                <a:schemeClr val="tx1"/>
              </a:solidFill>
            </a:endParaRPr>
          </a:p>
        </p:txBody>
      </p:sp>
      <p:sp>
        <p:nvSpPr>
          <p:cNvPr id="11" name="Smiley 10">
            <a:extLst>
              <a:ext uri="{FF2B5EF4-FFF2-40B4-BE49-F238E27FC236}">
                <a16:creationId xmlns:a16="http://schemas.microsoft.com/office/drawing/2014/main" id="{05C2F8D7-7BCB-371D-8370-9A5A00A4EEA8}"/>
              </a:ext>
            </a:extLst>
          </p:cNvPr>
          <p:cNvSpPr/>
          <p:nvPr/>
        </p:nvSpPr>
        <p:spPr>
          <a:xfrm>
            <a:off x="9660397" y="5121188"/>
            <a:ext cx="915159" cy="899518"/>
          </a:xfrm>
          <a:prstGeom prst="smileyFace">
            <a:avLst/>
          </a:prstGeom>
          <a:solidFill>
            <a:srgbClr val="92D05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Tree>
    <p:custDataLst>
      <p:tags r:id="rId1"/>
    </p:custDataLst>
  </p:cSld>
  <p:clrMapOvr>
    <a:masterClrMapping/>
  </p:clrMapOvr>
  <p:transition spd="slow" advTm="3139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1" fill="hold" display="0">
                  <p:stCondLst>
                    <p:cond delay="indefinite"/>
                  </p:stCondLst>
                  <p:endCondLst>
                    <p:cond evt="onStopAudio" delay="0">
                      <p:tgtEl>
                        <p:sldTgt/>
                      </p:tgtEl>
                    </p:cond>
                  </p:endCondLst>
                </p:cTn>
                <p:tgtEl>
                  <p:spTgt spid="2"/>
                </p:tgtEl>
              </p:cMediaNode>
            </p:audio>
          </p:childTnLst>
        </p:cTn>
      </p:par>
    </p:tnLst>
    <p:bldLst>
      <p:bldP spid="11" grpId="0" animBg="1"/>
    </p:bldLst>
  </p:timing>
  <p:extLst>
    <p:ext uri="{E180D4A7-C9FB-4DFB-919C-405C955672EB}">
      <p14:showEvtLst xmlns:p14="http://schemas.microsoft.com/office/powerpoint/2010/main">
        <p14:playEvt time="28" objId="2"/>
        <p14:stopEvt time="28955" objId="2"/>
      </p14:showEvt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Inhaltsplatzhalter 1">
            <a:extLst>
              <a:ext uri="{FF2B5EF4-FFF2-40B4-BE49-F238E27FC236}">
                <a16:creationId xmlns:a16="http://schemas.microsoft.com/office/drawing/2014/main" id="{4B77F9B9-DD1F-69D2-619B-3A2E71416F46}"/>
              </a:ext>
            </a:extLst>
          </p:cNvPr>
          <p:cNvSpPr>
            <a:spLocks noGrp="1"/>
          </p:cNvSpPr>
          <p:nvPr>
            <p:ph sz="quarter" idx="10"/>
          </p:nvPr>
        </p:nvSpPr>
        <p:spPr/>
        <p:txBody>
          <a:bodyPr/>
          <a:lstStyle/>
          <a:p>
            <a:pPr marL="0" indent="0"/>
            <a:endParaRPr lang="de-DE" altLang="de-DE" dirty="0"/>
          </a:p>
          <a:p>
            <a:pPr marL="0" indent="0">
              <a:buNone/>
            </a:pPr>
            <a:r>
              <a:rPr lang="de-DE" altLang="de-DE" sz="2000" dirty="0" err="1">
                <a:latin typeface="Arial" panose="020B0604020202020204" pitchFamily="34" charset="0"/>
                <a:cs typeface="Arial" panose="020B0604020202020204" pitchFamily="34" charset="0"/>
              </a:rPr>
              <a:t>Massstab</a:t>
            </a:r>
            <a:r>
              <a:rPr lang="de-DE" altLang="de-DE" sz="2000" dirty="0">
                <a:latin typeface="Arial" panose="020B0604020202020204" pitchFamily="34" charset="0"/>
                <a:cs typeface="Arial" panose="020B0604020202020204" pitchFamily="34" charset="0"/>
              </a:rPr>
              <a:t> und Befund </a:t>
            </a:r>
            <a:r>
              <a:rPr lang="de-DE" altLang="de-DE" sz="4000" dirty="0">
                <a:latin typeface="Arial" panose="020B0604020202020204" pitchFamily="34" charset="0"/>
                <a:cs typeface="Arial" panose="020B0604020202020204" pitchFamily="34" charset="0"/>
                <a:sym typeface="Wingdings" pitchFamily="2" charset="2"/>
              </a:rPr>
              <a:t> </a:t>
            </a:r>
            <a:r>
              <a:rPr lang="de-DE" altLang="de-DE" sz="4000" dirty="0">
                <a:latin typeface="Arial" panose="020B0604020202020204" pitchFamily="34" charset="0"/>
                <a:cs typeface="Arial" panose="020B0604020202020204" pitchFamily="34" charset="0"/>
              </a:rPr>
              <a:t>in einer Ebene</a:t>
            </a:r>
          </a:p>
        </p:txBody>
      </p:sp>
      <p:sp>
        <p:nvSpPr>
          <p:cNvPr id="5" name="Titel 2">
            <a:extLst>
              <a:ext uri="{FF2B5EF4-FFF2-40B4-BE49-F238E27FC236}">
                <a16:creationId xmlns:a16="http://schemas.microsoft.com/office/drawing/2014/main" id="{D5D96021-86C5-5754-2545-E044D47DD5BC}"/>
              </a:ext>
            </a:extLst>
          </p:cNvPr>
          <p:cNvSpPr txBox="1">
            <a:spLocks/>
          </p:cNvSpPr>
          <p:nvPr/>
        </p:nvSpPr>
        <p:spPr>
          <a:xfrm>
            <a:off x="814918" y="7326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altLang="de-DE" sz="3600" b="1">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103"/>
    </mc:Choice>
    <mc:Fallback xmlns="">
      <p:transition spd="slow" advTm="510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Menschliches Gesicht, Text, Screenshot, Brille enthält.&#10;&#10;KI-generierte Inhalte können fehlerhaft sein.">
            <a:extLst>
              <a:ext uri="{FF2B5EF4-FFF2-40B4-BE49-F238E27FC236}">
                <a16:creationId xmlns:a16="http://schemas.microsoft.com/office/drawing/2014/main" id="{B0253E36-FF04-8145-FEC6-A231925F49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00390" y="1633449"/>
            <a:ext cx="3513547" cy="4849138"/>
          </a:xfrm>
          <a:prstGeom prst="rect">
            <a:avLst/>
          </a:prstGeom>
        </p:spPr>
      </p:pic>
      <p:pic>
        <p:nvPicPr>
          <p:cNvPr id="8" name="Grafik 7" descr="Ein Bild, das Text, Menschliches Gesicht, Screenshot enthält.&#10;&#10;KI-generierte Inhalte können fehlerhaft sein.">
            <a:extLst>
              <a:ext uri="{FF2B5EF4-FFF2-40B4-BE49-F238E27FC236}">
                <a16:creationId xmlns:a16="http://schemas.microsoft.com/office/drawing/2014/main" id="{5B7EFC1F-DEDB-88CE-6ADD-504807B6AB1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82454" y="1633449"/>
            <a:ext cx="3513547" cy="4846367"/>
          </a:xfrm>
          <a:prstGeom prst="rect">
            <a:avLst/>
          </a:prstGeom>
        </p:spPr>
      </p:pic>
      <p:sp>
        <p:nvSpPr>
          <p:cNvPr id="3" name="Titel 2">
            <a:extLst>
              <a:ext uri="{FF2B5EF4-FFF2-40B4-BE49-F238E27FC236}">
                <a16:creationId xmlns:a16="http://schemas.microsoft.com/office/drawing/2014/main" id="{AA11CDC2-2C27-E005-CAAE-5B21800F3919}"/>
              </a:ext>
            </a:extLst>
          </p:cNvPr>
          <p:cNvSpPr>
            <a:spLocks noGrp="1"/>
          </p:cNvSpPr>
          <p:nvPr>
            <p:ph type="title"/>
          </p:nvPr>
        </p:nvSpPr>
        <p:spPr>
          <a:xfrm>
            <a:off x="2135189" y="100647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Aktuelles Beispiel</a:t>
            </a:r>
          </a:p>
        </p:txBody>
      </p:sp>
      <p:pic>
        <p:nvPicPr>
          <p:cNvPr id="12" name="Audio 11">
            <a:hlinkClick r:id="" action="ppaction://media"/>
            <a:extLst>
              <a:ext uri="{FF2B5EF4-FFF2-40B4-BE49-F238E27FC236}">
                <a16:creationId xmlns:a16="http://schemas.microsoft.com/office/drawing/2014/main" id="{ABFD51CC-54B5-D754-9045-2035E643CB7B}"/>
              </a:ext>
            </a:extLst>
          </p:cNvPr>
          <p:cNvPicPr>
            <a:picLocks noChangeAspect="1"/>
          </p:cNvPicPr>
          <p:nvPr>
            <a:audioFile r:link="rId2"/>
            <p:extLst>
              <p:ext uri="{DAA4B4D4-6D71-4841-9C94-3DE7FCFB9230}">
                <p14:media xmlns:p14="http://schemas.microsoft.com/office/powerpoint/2010/main" r:embed="rId1"/>
              </p:ext>
            </p:extLst>
          </p:nvPr>
        </p:nvPicPr>
        <p:blipFill>
          <a:blip r:embed="rId7">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3108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30539"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extLst>
    <p:ext uri="{E180D4A7-C9FB-4DFB-919C-405C955672EB}">
      <p14:showEvtLst xmlns:p14="http://schemas.microsoft.com/office/powerpoint/2010/main">
        <p14:playEvt time="34" objId="12"/>
        <p14:stopEvt time="30732" objId="12"/>
      </p14:showEvt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98452AD-2FC2-6FCE-E3B9-40D4D293DBF0}"/>
              </a:ext>
            </a:extLst>
          </p:cNvPr>
          <p:cNvSpPr>
            <a:spLocks noGrp="1"/>
          </p:cNvSpPr>
          <p:nvPr>
            <p:ph type="title"/>
          </p:nvPr>
        </p:nvSpPr>
        <p:spPr>
          <a:xfrm>
            <a:off x="2135189" y="1268414"/>
            <a:ext cx="8137525" cy="369887"/>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Selbsterklärende Abbildungsabfolge</a:t>
            </a:r>
          </a:p>
        </p:txBody>
      </p:sp>
      <p:pic>
        <p:nvPicPr>
          <p:cNvPr id="45058" name="Picture 5" descr="S 1">
            <a:extLst>
              <a:ext uri="{FF2B5EF4-FFF2-40B4-BE49-F238E27FC236}">
                <a16:creationId xmlns:a16="http://schemas.microsoft.com/office/drawing/2014/main" id="{E82CCAA9-585E-585C-40E0-51ADD307B851}"/>
              </a:ext>
            </a:extLst>
          </p:cNvPr>
          <p:cNvPicPr>
            <a:picLocks noGrp="1" noChangeAspect="1" noChangeArrowheads="1"/>
          </p:cNvPicPr>
          <p:nvPr>
            <p:ph sz="quarter" idx="10"/>
          </p:nvPr>
        </p:nvPicPr>
        <p:blipFill>
          <a:blip r:embed="rId5" cstate="screen">
            <a:extLst>
              <a:ext uri="{28A0092B-C50C-407E-A947-70E740481C1C}">
                <a14:useLocalDpi xmlns:a14="http://schemas.microsoft.com/office/drawing/2010/main"/>
              </a:ext>
            </a:extLst>
          </a:blip>
          <a:srcRect/>
          <a:stretch>
            <a:fillRect/>
          </a:stretch>
        </p:blipFill>
        <p:spPr>
          <a:xfrm>
            <a:off x="2459038" y="1989139"/>
            <a:ext cx="2055812" cy="4391025"/>
          </a:xfrm>
          <a:noFill/>
          <a:ln w="3175">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59" name="Picture 6" descr="S h">
            <a:extLst>
              <a:ext uri="{FF2B5EF4-FFF2-40B4-BE49-F238E27FC236}">
                <a16:creationId xmlns:a16="http://schemas.microsoft.com/office/drawing/2014/main" id="{0112AD33-0ABE-F088-7FC3-3B921DF4B81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859714" y="2636839"/>
            <a:ext cx="790575" cy="1944687"/>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5060" name="Picture 6" descr="S h">
            <a:extLst>
              <a:ext uri="{FF2B5EF4-FFF2-40B4-BE49-F238E27FC236}">
                <a16:creationId xmlns:a16="http://schemas.microsoft.com/office/drawing/2014/main" id="{AAC7897C-14FC-A8E8-C9F7-6762415105F8}"/>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282114" y="2705101"/>
            <a:ext cx="414337" cy="720725"/>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5061" name="Picture 6" descr="S h">
            <a:extLst>
              <a:ext uri="{FF2B5EF4-FFF2-40B4-BE49-F238E27FC236}">
                <a16:creationId xmlns:a16="http://schemas.microsoft.com/office/drawing/2014/main" id="{5039ACF3-4B47-42DD-AFE1-F1361F3CA1E1}"/>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165725" y="1989138"/>
            <a:ext cx="2046288" cy="439261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 name="Pfeil nach rechts 3">
            <a:extLst>
              <a:ext uri="{FF2B5EF4-FFF2-40B4-BE49-F238E27FC236}">
                <a16:creationId xmlns:a16="http://schemas.microsoft.com/office/drawing/2014/main" id="{FE06BDAE-271D-51EC-B3D3-CEF8F7CF9AEE}"/>
              </a:ext>
            </a:extLst>
          </p:cNvPr>
          <p:cNvSpPr/>
          <p:nvPr/>
        </p:nvSpPr>
        <p:spPr>
          <a:xfrm>
            <a:off x="4583114" y="2876551"/>
            <a:ext cx="504825" cy="377825"/>
          </a:xfrm>
          <a:prstGeom prst="rightArrow">
            <a:avLst/>
          </a:prstGeom>
          <a:solidFill>
            <a:schemeClr val="tx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2" name="Pfeil nach rechts 11">
            <a:extLst>
              <a:ext uri="{FF2B5EF4-FFF2-40B4-BE49-F238E27FC236}">
                <a16:creationId xmlns:a16="http://schemas.microsoft.com/office/drawing/2014/main" id="{D0BEE429-CDD5-FF1E-B4B2-74E2EB0ABD6D}"/>
              </a:ext>
            </a:extLst>
          </p:cNvPr>
          <p:cNvSpPr/>
          <p:nvPr/>
        </p:nvSpPr>
        <p:spPr>
          <a:xfrm>
            <a:off x="7283451" y="2871789"/>
            <a:ext cx="504825" cy="377825"/>
          </a:xfrm>
          <a:prstGeom prst="rightArrow">
            <a:avLst/>
          </a:prstGeom>
          <a:solidFill>
            <a:schemeClr val="tx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3" name="Pfeil nach rechts 12">
            <a:extLst>
              <a:ext uri="{FF2B5EF4-FFF2-40B4-BE49-F238E27FC236}">
                <a16:creationId xmlns:a16="http://schemas.microsoft.com/office/drawing/2014/main" id="{D4F24032-4959-42F1-E22C-0BF1238DC953}"/>
              </a:ext>
            </a:extLst>
          </p:cNvPr>
          <p:cNvSpPr/>
          <p:nvPr/>
        </p:nvSpPr>
        <p:spPr>
          <a:xfrm>
            <a:off x="8724900" y="2876551"/>
            <a:ext cx="503238" cy="377825"/>
          </a:xfrm>
          <a:prstGeom prst="rightArrow">
            <a:avLst/>
          </a:prstGeom>
          <a:solidFill>
            <a:schemeClr val="tx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45065" name="Textfeld 1">
            <a:extLst>
              <a:ext uri="{FF2B5EF4-FFF2-40B4-BE49-F238E27FC236}">
                <a16:creationId xmlns:a16="http://schemas.microsoft.com/office/drawing/2014/main" id="{91649467-618A-35A2-63D8-71EAB8F90796}"/>
              </a:ext>
            </a:extLst>
          </p:cNvPr>
          <p:cNvSpPr txBox="1">
            <a:spLocks noChangeArrowheads="1"/>
          </p:cNvSpPr>
          <p:nvPr/>
        </p:nvSpPr>
        <p:spPr bwMode="auto">
          <a:xfrm>
            <a:off x="7967663" y="2195514"/>
            <a:ext cx="608012"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a:t>evtl.</a:t>
            </a:r>
          </a:p>
        </p:txBody>
      </p:sp>
      <p:pic>
        <p:nvPicPr>
          <p:cNvPr id="2" name="Audio 1">
            <a:hlinkClick r:id="" action="ppaction://media"/>
            <a:extLst>
              <a:ext uri="{FF2B5EF4-FFF2-40B4-BE49-F238E27FC236}">
                <a16:creationId xmlns:a16="http://schemas.microsoft.com/office/drawing/2014/main" id="{D9195209-DBEA-67A1-AD69-48A78F3756CC}"/>
              </a:ext>
            </a:extLst>
          </p:cNvPr>
          <p:cNvPicPr>
            <a:picLocks noChangeAspect="1"/>
          </p:cNvPicPr>
          <p:nvPr>
            <a:audioFile r:link="rId2"/>
            <p:extLst>
              <p:ext uri="{DAA4B4D4-6D71-4841-9C94-3DE7FCFB9230}">
                <p14:media xmlns:p14="http://schemas.microsoft.com/office/powerpoint/2010/main" r:embed="rId1"/>
              </p:ext>
            </p:extLst>
          </p:nvPr>
        </p:nvPicPr>
        <p:blipFill>
          <a:blip r:embed="rId9">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3202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37" objId="2"/>
        <p14:stopEvt time="30993" objId="2"/>
      </p14:showEvt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Inhaltsplatzhalter 1">
            <a:extLst>
              <a:ext uri="{FF2B5EF4-FFF2-40B4-BE49-F238E27FC236}">
                <a16:creationId xmlns:a16="http://schemas.microsoft.com/office/drawing/2014/main" id="{64ABC836-BE89-2597-6523-357DBF1F7CAF}"/>
              </a:ext>
            </a:extLst>
          </p:cNvPr>
          <p:cNvSpPr>
            <a:spLocks noGrp="1"/>
          </p:cNvSpPr>
          <p:nvPr>
            <p:ph sz="quarter" idx="10"/>
          </p:nvPr>
        </p:nvSpPr>
        <p:spPr/>
        <p:txBody>
          <a:bodyPr/>
          <a:lstStyle/>
          <a:p>
            <a:pPr marL="0" indent="0"/>
            <a:endParaRPr lang="de-DE" altLang="de-DE" dirty="0"/>
          </a:p>
          <a:p>
            <a:pPr marL="0" indent="0">
              <a:buNone/>
            </a:pPr>
            <a:r>
              <a:rPr lang="de-DE" altLang="de-DE" sz="1800" dirty="0">
                <a:latin typeface="Arial" panose="020B0604020202020204" pitchFamily="34" charset="0"/>
                <a:cs typeface="Arial" panose="020B0604020202020204" pitchFamily="34" charset="0"/>
              </a:rPr>
              <a:t>Bei Befunddokumentation (z.B. Wunde):</a:t>
            </a:r>
          </a:p>
          <a:p>
            <a:pPr marL="0" indent="0">
              <a:buFont typeface="Arial" panose="020B0604020202020204" pitchFamily="34" charset="0"/>
              <a:buAutoNum type="arabicPeriod"/>
            </a:pPr>
            <a:r>
              <a:rPr lang="de-DE" altLang="de-DE" sz="5000" dirty="0">
                <a:latin typeface="Arial" panose="020B0604020202020204" pitchFamily="34" charset="0"/>
                <a:cs typeface="Arial" panose="020B0604020202020204" pitchFamily="34" charset="0"/>
              </a:rPr>
              <a:t> Übersichtsaufnahme</a:t>
            </a:r>
          </a:p>
          <a:p>
            <a:pPr marL="0" indent="0">
              <a:buFont typeface="Arial" panose="020B0604020202020204" pitchFamily="34" charset="0"/>
              <a:buAutoNum type="arabicPeriod"/>
            </a:pPr>
            <a:r>
              <a:rPr lang="de-DE" altLang="de-DE" sz="3000" dirty="0">
                <a:latin typeface="Arial" panose="020B0604020202020204" pitchFamily="34" charset="0"/>
                <a:cs typeface="Arial" panose="020B0604020202020204" pitchFamily="34" charset="0"/>
              </a:rPr>
              <a:t> Detailaufnahme(</a:t>
            </a:r>
            <a:r>
              <a:rPr lang="de-DE" altLang="de-DE" sz="3000" dirty="0" err="1">
                <a:latin typeface="Arial" panose="020B0604020202020204" pitchFamily="34" charset="0"/>
                <a:cs typeface="Arial" panose="020B0604020202020204" pitchFamily="34" charset="0"/>
              </a:rPr>
              <a:t>n</a:t>
            </a:r>
            <a:r>
              <a:rPr lang="de-DE" altLang="de-DE" sz="3000" dirty="0">
                <a:latin typeface="Arial" panose="020B0604020202020204" pitchFamily="34" charset="0"/>
                <a:cs typeface="Arial" panose="020B0604020202020204" pitchFamily="34" charset="0"/>
              </a:rPr>
              <a:t>)</a:t>
            </a:r>
          </a:p>
        </p:txBody>
      </p:sp>
      <p:sp>
        <p:nvSpPr>
          <p:cNvPr id="4" name="Titel 2">
            <a:extLst>
              <a:ext uri="{FF2B5EF4-FFF2-40B4-BE49-F238E27FC236}">
                <a16:creationId xmlns:a16="http://schemas.microsoft.com/office/drawing/2014/main" id="{ABAEBC5C-F29D-6614-BA8A-BD4D1AD22A0F}"/>
              </a:ext>
            </a:extLst>
          </p:cNvPr>
          <p:cNvSpPr>
            <a:spLocks noGrp="1"/>
          </p:cNvSpPr>
          <p:nvPr>
            <p:ph type="title"/>
          </p:nvPr>
        </p:nvSpPr>
        <p:spPr>
          <a:xfrm>
            <a:off x="814918" y="732678"/>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491"/>
    </mc:Choice>
    <mc:Fallback xmlns="">
      <p:transition spd="slow" advTm="649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394F9A6-605F-8AA9-9B6F-3A2322407423}"/>
              </a:ext>
            </a:extLst>
          </p:cNvPr>
          <p:cNvSpPr>
            <a:spLocks noGrp="1"/>
          </p:cNvSpPr>
          <p:nvPr>
            <p:ph type="title"/>
          </p:nvPr>
        </p:nvSpPr>
        <p:spPr>
          <a:xfrm>
            <a:off x="2135189" y="108902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Formatfüllend</a:t>
            </a:r>
          </a:p>
        </p:txBody>
      </p:sp>
      <p:grpSp>
        <p:nvGrpSpPr>
          <p:cNvPr id="4" name="Gruppieren 3">
            <a:extLst>
              <a:ext uri="{FF2B5EF4-FFF2-40B4-BE49-F238E27FC236}">
                <a16:creationId xmlns:a16="http://schemas.microsoft.com/office/drawing/2014/main" id="{5921FBEA-4DA9-1465-FA54-72DE4635864B}"/>
              </a:ext>
            </a:extLst>
          </p:cNvPr>
          <p:cNvGrpSpPr/>
          <p:nvPr/>
        </p:nvGrpSpPr>
        <p:grpSpPr>
          <a:xfrm>
            <a:off x="2640083" y="1728958"/>
            <a:ext cx="7126847" cy="4755980"/>
            <a:chOff x="1116082" y="1728958"/>
            <a:chExt cx="7126847" cy="4755980"/>
          </a:xfrm>
        </p:grpSpPr>
        <p:pic>
          <p:nvPicPr>
            <p:cNvPr id="7" name="Grafik 6" descr="Ein Bild, das Person, Kleidung, Wand, Schulter enthält.&#10;&#10;KI-generierte Inhalte können fehlerhaft sein.">
              <a:extLst>
                <a:ext uri="{FF2B5EF4-FFF2-40B4-BE49-F238E27FC236}">
                  <a16:creationId xmlns:a16="http://schemas.microsoft.com/office/drawing/2014/main" id="{9FFEB340-9124-A681-3A27-07DC9728DE7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16082" y="1728958"/>
              <a:ext cx="7126847" cy="4752155"/>
            </a:xfrm>
            <a:prstGeom prst="rect">
              <a:avLst/>
            </a:prstGeom>
          </p:spPr>
        </p:pic>
        <p:sp>
          <p:nvSpPr>
            <p:cNvPr id="2" name="Rechteck 1">
              <a:extLst>
                <a:ext uri="{FF2B5EF4-FFF2-40B4-BE49-F238E27FC236}">
                  <a16:creationId xmlns:a16="http://schemas.microsoft.com/office/drawing/2014/main" id="{20156AA8-157A-60B7-E480-4122275CB417}"/>
                </a:ext>
              </a:extLst>
            </p:cNvPr>
            <p:cNvSpPr/>
            <p:nvPr/>
          </p:nvSpPr>
          <p:spPr>
            <a:xfrm>
              <a:off x="3527425" y="2713038"/>
              <a:ext cx="2665413" cy="3771900"/>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grpSp>
      <p:pic>
        <p:nvPicPr>
          <p:cNvPr id="5" name="Audio 4">
            <a:hlinkClick r:id="" action="ppaction://media"/>
            <a:extLst>
              <a:ext uri="{FF2B5EF4-FFF2-40B4-BE49-F238E27FC236}">
                <a16:creationId xmlns:a16="http://schemas.microsoft.com/office/drawing/2014/main" id="{156DEA82-F94D-5689-DD4F-267A1A19AE1F}"/>
              </a:ext>
            </a:extLst>
          </p:cNvPr>
          <p:cNvPicPr>
            <a:picLocks noChangeAspect="1"/>
          </p:cNvPicPr>
          <p:nvPr>
            <a:audioFile r:link="rId3"/>
            <p:extLst>
              <p:ext uri="{DAA4B4D4-6D71-4841-9C94-3DE7FCFB9230}">
                <p14:media xmlns:p14="http://schemas.microsoft.com/office/powerpoint/2010/main" r:embed="rId2"/>
              </p:ext>
            </p:extLst>
          </p:nvPr>
        </p:nvPicPr>
        <p:blipFill>
          <a:blip r:embed="rId7">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advTm="3893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
                </p:tgtEl>
              </p:cMediaNode>
            </p:audio>
          </p:childTnLst>
        </p:cTn>
      </p:par>
    </p:tnLst>
  </p:timing>
  <p:extLst>
    <p:ext uri="{E180D4A7-C9FB-4DFB-919C-405C955672EB}">
      <p14:showEvtLst xmlns:p14="http://schemas.microsoft.com/office/powerpoint/2010/main">
        <p14:playEvt time="41" objId="5"/>
        <p14:stopEvt time="37459" objId="5"/>
      </p14:showEvt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Inhaltsplatzhalter 1">
            <a:extLst>
              <a:ext uri="{FF2B5EF4-FFF2-40B4-BE49-F238E27FC236}">
                <a16:creationId xmlns:a16="http://schemas.microsoft.com/office/drawing/2014/main" id="{66E7C212-903A-06EC-2BC8-0D7A8597E445}"/>
              </a:ext>
            </a:extLst>
          </p:cNvPr>
          <p:cNvSpPr>
            <a:spLocks noGrp="1"/>
          </p:cNvSpPr>
          <p:nvPr>
            <p:ph sz="quarter" idx="10"/>
          </p:nvPr>
        </p:nvSpPr>
        <p:spPr/>
        <p:txBody>
          <a:bodyPr/>
          <a:lstStyle/>
          <a:p>
            <a:pPr marL="0" indent="0"/>
            <a:endParaRPr lang="de-DE" altLang="de-DE" sz="2300" dirty="0"/>
          </a:p>
          <a:p>
            <a:pPr marL="0" indent="0">
              <a:buNone/>
            </a:pPr>
            <a:r>
              <a:rPr lang="de-DE" altLang="de-DE" sz="2300" dirty="0">
                <a:latin typeface="Arial" panose="020B0604020202020204" pitchFamily="34" charset="0"/>
                <a:cs typeface="Arial" panose="020B0604020202020204" pitchFamily="34" charset="0"/>
              </a:rPr>
              <a:t>Portrait</a:t>
            </a:r>
            <a:r>
              <a:rPr lang="de-DE" altLang="de-DE" dirty="0">
                <a:latin typeface="Arial" panose="020B0604020202020204" pitchFamily="34" charset="0"/>
                <a:cs typeface="Arial" panose="020B0604020202020204" pitchFamily="34" charset="0"/>
              </a:rPr>
              <a:t> </a:t>
            </a:r>
          </a:p>
          <a:p>
            <a:pPr marL="0" indent="0">
              <a:buNone/>
            </a:pPr>
            <a:r>
              <a:rPr lang="de-DE" altLang="de-DE" sz="3500" dirty="0">
                <a:latin typeface="Arial" panose="020B0604020202020204" pitchFamily="34" charset="0"/>
                <a:cs typeface="Arial" panose="020B0604020202020204" pitchFamily="34" charset="0"/>
                <a:sym typeface="Wingdings" pitchFamily="2" charset="2"/>
              </a:rPr>
              <a:t>	formatfüllend</a:t>
            </a:r>
          </a:p>
          <a:p>
            <a:pPr marL="0" indent="0">
              <a:buNone/>
            </a:pPr>
            <a:r>
              <a:rPr lang="de-DE" altLang="de-DE" sz="3500" dirty="0">
                <a:latin typeface="Arial" panose="020B0604020202020204" pitchFamily="34" charset="0"/>
                <a:cs typeface="Arial" panose="020B0604020202020204" pitchFamily="34" charset="0"/>
                <a:sym typeface="Wingdings" pitchFamily="2" charset="2"/>
              </a:rPr>
              <a:t>	Sicherheitsabstände zu den Rändern</a:t>
            </a:r>
            <a:endParaRPr lang="de-DE" altLang="de-DE" sz="3500" dirty="0">
              <a:latin typeface="Arial" panose="020B0604020202020204" pitchFamily="34" charset="0"/>
              <a:cs typeface="Arial" panose="020B0604020202020204" pitchFamily="34" charset="0"/>
            </a:endParaRPr>
          </a:p>
        </p:txBody>
      </p:sp>
      <p:sp>
        <p:nvSpPr>
          <p:cNvPr id="4" name="Titel 2">
            <a:extLst>
              <a:ext uri="{FF2B5EF4-FFF2-40B4-BE49-F238E27FC236}">
                <a16:creationId xmlns:a16="http://schemas.microsoft.com/office/drawing/2014/main" id="{8F9B2DB0-287B-799D-91DC-FA58653BFF26}"/>
              </a:ext>
            </a:extLst>
          </p:cNvPr>
          <p:cNvSpPr>
            <a:spLocks noGrp="1"/>
          </p:cNvSpPr>
          <p:nvPr>
            <p:ph type="title"/>
          </p:nvPr>
        </p:nvSpPr>
        <p:spPr>
          <a:xfrm>
            <a:off x="814918" y="732678"/>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610"/>
    </mc:Choice>
    <mc:Fallback xmlns="">
      <p:transition spd="slow" advTm="561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fik 12" descr="Ein Bild, das Menschliches Gesicht, Person, Kinn, Hals enthält.&#10;&#10;KI-generierte Inhalte können fehlerhaft sein.">
            <a:extLst>
              <a:ext uri="{FF2B5EF4-FFF2-40B4-BE49-F238E27FC236}">
                <a16:creationId xmlns:a16="http://schemas.microsoft.com/office/drawing/2014/main" id="{E4600439-958A-2D75-FBEA-E247D1D9DAA8}"/>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533650" y="1850463"/>
            <a:ext cx="3019846" cy="4039164"/>
          </a:xfrm>
          <a:prstGeom prst="rect">
            <a:avLst/>
          </a:prstGeom>
        </p:spPr>
      </p:pic>
      <p:pic>
        <p:nvPicPr>
          <p:cNvPr id="5" name="Grafik 4" descr="Ein Bild, das Menschliches Gesicht, Person, Hals, Porträt enthält.&#10;&#10;KI-generierte Inhalte können fehlerhaft sein.">
            <a:extLst>
              <a:ext uri="{FF2B5EF4-FFF2-40B4-BE49-F238E27FC236}">
                <a16:creationId xmlns:a16="http://schemas.microsoft.com/office/drawing/2014/main" id="{F56D4400-47AD-D8DA-070E-490FFE2A688B}"/>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782841" y="1846261"/>
            <a:ext cx="2988817" cy="4039200"/>
          </a:xfrm>
          <a:prstGeom prst="rect">
            <a:avLst/>
          </a:prstGeom>
        </p:spPr>
      </p:pic>
      <p:sp>
        <p:nvSpPr>
          <p:cNvPr id="3" name="Titel 2">
            <a:extLst>
              <a:ext uri="{FF2B5EF4-FFF2-40B4-BE49-F238E27FC236}">
                <a16:creationId xmlns:a16="http://schemas.microsoft.com/office/drawing/2014/main" id="{929DD221-3F54-6078-0E22-CF7613104DB0}"/>
              </a:ext>
            </a:extLst>
          </p:cNvPr>
          <p:cNvSpPr>
            <a:spLocks noGrp="1"/>
          </p:cNvSpPr>
          <p:nvPr>
            <p:ph type="title"/>
          </p:nvPr>
        </p:nvSpPr>
        <p:spPr>
          <a:xfrm>
            <a:off x="2135189" y="108902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Formatfüllendes Portrait &gt; WW vs. Tele</a:t>
            </a:r>
          </a:p>
        </p:txBody>
      </p:sp>
      <p:sp>
        <p:nvSpPr>
          <p:cNvPr id="8" name="Rechteck 7">
            <a:extLst>
              <a:ext uri="{FF2B5EF4-FFF2-40B4-BE49-F238E27FC236}">
                <a16:creationId xmlns:a16="http://schemas.microsoft.com/office/drawing/2014/main" id="{97553463-9595-E9DF-79CE-76CB203B8805}"/>
              </a:ext>
            </a:extLst>
          </p:cNvPr>
          <p:cNvSpPr/>
          <p:nvPr/>
        </p:nvSpPr>
        <p:spPr>
          <a:xfrm>
            <a:off x="1739900" y="5908676"/>
            <a:ext cx="4572000" cy="584775"/>
          </a:xfrm>
          <a:prstGeom prst="rect">
            <a:avLst/>
          </a:prstGeom>
        </p:spPr>
        <p:txBody>
          <a:bodyPr>
            <a:spAutoFit/>
          </a:bodyPr>
          <a:lstStyle/>
          <a:p>
            <a:pPr algn="ctr">
              <a:defRPr/>
            </a:pPr>
            <a:r>
              <a:rPr lang="de-CH" sz="1600" b="1" kern="0" dirty="0">
                <a:solidFill>
                  <a:srgbClr val="000000"/>
                </a:solidFill>
                <a:latin typeface="Arial" charset="0"/>
              </a:rPr>
              <a:t>Weitwinkel</a:t>
            </a:r>
            <a:r>
              <a:rPr lang="de-CH" sz="1600" kern="0" dirty="0">
                <a:solidFill>
                  <a:srgbClr val="000000"/>
                </a:solidFill>
                <a:latin typeface="Arial" charset="0"/>
              </a:rPr>
              <a:t>brennweite</a:t>
            </a:r>
          </a:p>
          <a:p>
            <a:pPr algn="ctr">
              <a:defRPr/>
            </a:pPr>
            <a:r>
              <a:rPr lang="de-CH" sz="1600" kern="0" dirty="0">
                <a:solidFill>
                  <a:srgbClr val="000000"/>
                </a:solidFill>
                <a:latin typeface="Arial" charset="0"/>
                <a:sym typeface="Wingdings" pitchFamily="2" charset="2"/>
              </a:rPr>
              <a:t> </a:t>
            </a:r>
            <a:r>
              <a:rPr lang="de-DE" sz="1600" kern="0" dirty="0">
                <a:solidFill>
                  <a:srgbClr val="000000"/>
                </a:solidFill>
                <a:latin typeface="Arial" charset="0"/>
              </a:rPr>
              <a:t>Groteske Verzeichnung</a:t>
            </a:r>
          </a:p>
        </p:txBody>
      </p:sp>
      <p:sp>
        <p:nvSpPr>
          <p:cNvPr id="9" name="Rechteck 8">
            <a:extLst>
              <a:ext uri="{FF2B5EF4-FFF2-40B4-BE49-F238E27FC236}">
                <a16:creationId xmlns:a16="http://schemas.microsoft.com/office/drawing/2014/main" id="{864D60BE-D122-CDD6-81DD-DF1C70A41681}"/>
              </a:ext>
            </a:extLst>
          </p:cNvPr>
          <p:cNvSpPr/>
          <p:nvPr/>
        </p:nvSpPr>
        <p:spPr>
          <a:xfrm>
            <a:off x="5916613" y="5913439"/>
            <a:ext cx="4572000" cy="584775"/>
          </a:xfrm>
          <a:prstGeom prst="rect">
            <a:avLst/>
          </a:prstGeom>
        </p:spPr>
        <p:txBody>
          <a:bodyPr>
            <a:spAutoFit/>
          </a:bodyPr>
          <a:lstStyle/>
          <a:p>
            <a:pPr algn="ctr">
              <a:defRPr/>
            </a:pPr>
            <a:r>
              <a:rPr lang="de-CH" sz="1600" b="1" kern="0" dirty="0">
                <a:solidFill>
                  <a:srgbClr val="000000"/>
                </a:solidFill>
                <a:latin typeface="Arial" charset="0"/>
              </a:rPr>
              <a:t>Tele</a:t>
            </a:r>
            <a:r>
              <a:rPr lang="de-CH" sz="1600" kern="0" dirty="0">
                <a:solidFill>
                  <a:srgbClr val="000000"/>
                </a:solidFill>
                <a:latin typeface="Arial" charset="0"/>
              </a:rPr>
              <a:t>brennweite </a:t>
            </a:r>
          </a:p>
          <a:p>
            <a:pPr algn="ctr">
              <a:defRPr/>
            </a:pPr>
            <a:r>
              <a:rPr lang="de-CH" sz="1600" kern="0" dirty="0">
                <a:solidFill>
                  <a:srgbClr val="000000"/>
                </a:solidFill>
                <a:latin typeface="Arial" charset="0"/>
                <a:sym typeface="Wingdings" pitchFamily="2" charset="2"/>
              </a:rPr>
              <a:t></a:t>
            </a:r>
            <a:r>
              <a:rPr lang="de-CH" sz="1600" kern="0" dirty="0">
                <a:solidFill>
                  <a:srgbClr val="000000"/>
                </a:solidFill>
                <a:latin typeface="Arial" charset="0"/>
              </a:rPr>
              <a:t> Realistische Darstellung</a:t>
            </a:r>
            <a:endParaRPr lang="de-DE" sz="2600" kern="0" dirty="0">
              <a:solidFill>
                <a:srgbClr val="000000"/>
              </a:solidFill>
              <a:latin typeface="Arial" charset="0"/>
            </a:endParaRPr>
          </a:p>
        </p:txBody>
      </p:sp>
      <p:pic>
        <p:nvPicPr>
          <p:cNvPr id="2" name="Audio 1">
            <a:hlinkClick r:id="" action="ppaction://media"/>
            <a:extLst>
              <a:ext uri="{FF2B5EF4-FFF2-40B4-BE49-F238E27FC236}">
                <a16:creationId xmlns:a16="http://schemas.microsoft.com/office/drawing/2014/main" id="{FA2CE387-4758-F15E-34D1-3D696C52E630}"/>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miley 9">
            <a:extLst>
              <a:ext uri="{FF2B5EF4-FFF2-40B4-BE49-F238E27FC236}">
                <a16:creationId xmlns:a16="http://schemas.microsoft.com/office/drawing/2014/main" id="{B2BAAE5D-E3A1-6EC6-1C91-AE07ED0002B7}"/>
              </a:ext>
            </a:extLst>
          </p:cNvPr>
          <p:cNvSpPr/>
          <p:nvPr/>
        </p:nvSpPr>
        <p:spPr>
          <a:xfrm>
            <a:off x="9437527" y="5557994"/>
            <a:ext cx="719460" cy="799177"/>
          </a:xfrm>
          <a:prstGeom prst="smileyFace">
            <a:avLst/>
          </a:prstGeom>
          <a:solidFill>
            <a:srgbClr val="92D05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1" name="&quot;Nein&quot;-Symbol 10">
            <a:extLst>
              <a:ext uri="{FF2B5EF4-FFF2-40B4-BE49-F238E27FC236}">
                <a16:creationId xmlns:a16="http://schemas.microsoft.com/office/drawing/2014/main" id="{776BED6A-3D48-36E8-798C-1C4CAF179805}"/>
              </a:ext>
            </a:extLst>
          </p:cNvPr>
          <p:cNvSpPr/>
          <p:nvPr/>
        </p:nvSpPr>
        <p:spPr>
          <a:xfrm>
            <a:off x="5176970" y="5493658"/>
            <a:ext cx="739643" cy="799177"/>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solidFill>
                <a:schemeClr val="tx1"/>
              </a:solidFill>
            </a:endParaRPr>
          </a:p>
        </p:txBody>
      </p:sp>
      <p:sp>
        <p:nvSpPr>
          <p:cNvPr id="14" name="Textfeld 13">
            <a:extLst>
              <a:ext uri="{FF2B5EF4-FFF2-40B4-BE49-F238E27FC236}">
                <a16:creationId xmlns:a16="http://schemas.microsoft.com/office/drawing/2014/main" id="{5DB51D26-80A7-1CE0-D41B-02D659CDABCA}"/>
              </a:ext>
            </a:extLst>
          </p:cNvPr>
          <p:cNvSpPr txBox="1"/>
          <p:nvPr/>
        </p:nvSpPr>
        <p:spPr>
          <a:xfrm>
            <a:off x="285750" y="1952625"/>
            <a:ext cx="2038350" cy="2862322"/>
          </a:xfrm>
          <a:prstGeom prst="rect">
            <a:avLst/>
          </a:prstGeom>
          <a:noFill/>
        </p:spPr>
        <p:txBody>
          <a:bodyPr wrap="square" rtlCol="0">
            <a:spAutoFit/>
          </a:bodyPr>
          <a:lstStyle/>
          <a:p>
            <a:r>
              <a:rPr lang="de-CH" dirty="0">
                <a:solidFill>
                  <a:srgbClr val="FF0000"/>
                </a:solidFill>
              </a:rPr>
              <a:t>Note </a:t>
            </a:r>
            <a:r>
              <a:rPr lang="de-CH" dirty="0" err="1">
                <a:solidFill>
                  <a:srgbClr val="FF0000"/>
                </a:solidFill>
              </a:rPr>
              <a:t>to</a:t>
            </a:r>
            <a:r>
              <a:rPr lang="de-CH" dirty="0">
                <a:solidFill>
                  <a:srgbClr val="FF0000"/>
                </a:solidFill>
              </a:rPr>
              <a:t> </a:t>
            </a:r>
            <a:r>
              <a:rPr lang="de-CH" dirty="0" err="1">
                <a:solidFill>
                  <a:srgbClr val="FF0000"/>
                </a:solidFill>
              </a:rPr>
              <a:t>the</a:t>
            </a:r>
            <a:r>
              <a:rPr lang="de-CH" dirty="0">
                <a:solidFill>
                  <a:srgbClr val="FF0000"/>
                </a:solidFill>
              </a:rPr>
              <a:t> </a:t>
            </a:r>
            <a:r>
              <a:rPr lang="de-CH" dirty="0" err="1">
                <a:solidFill>
                  <a:srgbClr val="FF0000"/>
                </a:solidFill>
              </a:rPr>
              <a:t>reviewers</a:t>
            </a:r>
            <a:r>
              <a:rPr lang="de-CH" dirty="0">
                <a:solidFill>
                  <a:srgbClr val="FF0000"/>
                </a:solidFill>
              </a:rPr>
              <a:t>:</a:t>
            </a:r>
          </a:p>
          <a:p>
            <a:r>
              <a:rPr lang="de-CH" dirty="0">
                <a:solidFill>
                  <a:srgbClr val="FF0000"/>
                </a:solidFill>
              </a:rPr>
              <a:t>Original </a:t>
            </a:r>
            <a:r>
              <a:rPr lang="de-CH" dirty="0" err="1">
                <a:solidFill>
                  <a:srgbClr val="FF0000"/>
                </a:solidFill>
              </a:rPr>
              <a:t>image</a:t>
            </a:r>
            <a:r>
              <a:rPr lang="de-CH" dirty="0">
                <a:solidFill>
                  <a:srgbClr val="FF0000"/>
                </a:solidFill>
              </a:rPr>
              <a:t> </a:t>
            </a:r>
            <a:r>
              <a:rPr lang="de-CH" dirty="0" err="1">
                <a:solidFill>
                  <a:srgbClr val="FF0000"/>
                </a:solidFill>
              </a:rPr>
              <a:t>replaced</a:t>
            </a:r>
            <a:r>
              <a:rPr lang="de-CH" dirty="0">
                <a:solidFill>
                  <a:srgbClr val="FF0000"/>
                </a:solidFill>
              </a:rPr>
              <a:t> </a:t>
            </a:r>
            <a:r>
              <a:rPr lang="de-CH" dirty="0" err="1">
                <a:solidFill>
                  <a:srgbClr val="FF0000"/>
                </a:solidFill>
              </a:rPr>
              <a:t>by</a:t>
            </a:r>
            <a:r>
              <a:rPr lang="de-CH" dirty="0">
                <a:solidFill>
                  <a:srgbClr val="FF0000"/>
                </a:solidFill>
              </a:rPr>
              <a:t> an AI-image </a:t>
            </a:r>
            <a:r>
              <a:rPr lang="de-CH" dirty="0" err="1">
                <a:solidFill>
                  <a:srgbClr val="FF0000"/>
                </a:solidFill>
              </a:rPr>
              <a:t>to</a:t>
            </a:r>
            <a:r>
              <a:rPr lang="de-CH" dirty="0">
                <a:solidFill>
                  <a:srgbClr val="FF0000"/>
                </a:solidFill>
              </a:rPr>
              <a:t> </a:t>
            </a:r>
            <a:r>
              <a:rPr lang="de-CH" dirty="0" err="1">
                <a:solidFill>
                  <a:srgbClr val="FF0000"/>
                </a:solidFill>
              </a:rPr>
              <a:t>avoid</a:t>
            </a:r>
            <a:r>
              <a:rPr lang="de-CH" dirty="0">
                <a:solidFill>
                  <a:srgbClr val="FF0000"/>
                </a:solidFill>
              </a:rPr>
              <a:t> </a:t>
            </a:r>
            <a:r>
              <a:rPr lang="de-CH" dirty="0" err="1">
                <a:solidFill>
                  <a:srgbClr val="FF0000"/>
                </a:solidFill>
              </a:rPr>
              <a:t>identification</a:t>
            </a:r>
            <a:r>
              <a:rPr lang="de-CH" dirty="0">
                <a:solidFill>
                  <a:srgbClr val="FF0000"/>
                </a:solidFill>
              </a:rPr>
              <a:t> </a:t>
            </a:r>
            <a:r>
              <a:rPr lang="de-CH" dirty="0" err="1">
                <a:solidFill>
                  <a:srgbClr val="FF0000"/>
                </a:solidFill>
              </a:rPr>
              <a:t>of</a:t>
            </a:r>
            <a:r>
              <a:rPr lang="de-CH" dirty="0">
                <a:solidFill>
                  <a:srgbClr val="FF0000"/>
                </a:solidFill>
              </a:rPr>
              <a:t> </a:t>
            </a:r>
            <a:r>
              <a:rPr lang="de-CH" dirty="0" err="1">
                <a:solidFill>
                  <a:srgbClr val="FF0000"/>
                </a:solidFill>
              </a:rPr>
              <a:t>the</a:t>
            </a:r>
            <a:r>
              <a:rPr lang="de-CH" dirty="0">
                <a:solidFill>
                  <a:srgbClr val="FF0000"/>
                </a:solidFill>
              </a:rPr>
              <a:t> </a:t>
            </a:r>
            <a:r>
              <a:rPr lang="de-CH" dirty="0" err="1">
                <a:solidFill>
                  <a:srgbClr val="FF0000"/>
                </a:solidFill>
              </a:rPr>
              <a:t>authors</a:t>
            </a:r>
            <a:r>
              <a:rPr lang="de-CH" dirty="0">
                <a:solidFill>
                  <a:srgbClr val="FF0000"/>
                </a:solidFill>
              </a:rPr>
              <a:t> (will </a:t>
            </a:r>
            <a:r>
              <a:rPr lang="de-CH" dirty="0" err="1">
                <a:solidFill>
                  <a:srgbClr val="FF0000"/>
                </a:solidFill>
              </a:rPr>
              <a:t>be</a:t>
            </a:r>
            <a:r>
              <a:rPr lang="de-CH" dirty="0">
                <a:solidFill>
                  <a:srgbClr val="FF0000"/>
                </a:solidFill>
              </a:rPr>
              <a:t> </a:t>
            </a:r>
            <a:r>
              <a:rPr lang="de-CH" dirty="0" err="1">
                <a:solidFill>
                  <a:srgbClr val="FF0000"/>
                </a:solidFill>
              </a:rPr>
              <a:t>replaced</a:t>
            </a:r>
            <a:r>
              <a:rPr lang="de-CH" dirty="0">
                <a:solidFill>
                  <a:srgbClr val="FF0000"/>
                </a:solidFill>
              </a:rPr>
              <a:t> </a:t>
            </a:r>
            <a:r>
              <a:rPr lang="de-CH" dirty="0" err="1">
                <a:solidFill>
                  <a:srgbClr val="FF0000"/>
                </a:solidFill>
              </a:rPr>
              <a:t>with</a:t>
            </a:r>
            <a:r>
              <a:rPr lang="de-CH" dirty="0">
                <a:solidFill>
                  <a:srgbClr val="FF0000"/>
                </a:solidFill>
              </a:rPr>
              <a:t> </a:t>
            </a:r>
            <a:r>
              <a:rPr lang="de-CH" dirty="0" err="1">
                <a:solidFill>
                  <a:srgbClr val="FF0000"/>
                </a:solidFill>
              </a:rPr>
              <a:t>the</a:t>
            </a:r>
            <a:r>
              <a:rPr lang="de-CH" dirty="0">
                <a:solidFill>
                  <a:srgbClr val="FF0000"/>
                </a:solidFill>
              </a:rPr>
              <a:t> original </a:t>
            </a:r>
            <a:r>
              <a:rPr lang="de-CH" dirty="0" err="1">
                <a:solidFill>
                  <a:srgbClr val="FF0000"/>
                </a:solidFill>
              </a:rPr>
              <a:t>image</a:t>
            </a:r>
            <a:r>
              <a:rPr lang="de-CH" dirty="0">
                <a:solidFill>
                  <a:srgbClr val="FF0000"/>
                </a:solidFill>
              </a:rPr>
              <a:t> after </a:t>
            </a:r>
            <a:r>
              <a:rPr lang="de-CH" dirty="0" err="1">
                <a:solidFill>
                  <a:srgbClr val="FF0000"/>
                </a:solidFill>
              </a:rPr>
              <a:t>publication</a:t>
            </a:r>
            <a:r>
              <a:rPr lang="de-CH" dirty="0">
                <a:solidFill>
                  <a:srgbClr val="FF0000"/>
                </a:solidFill>
              </a:rPr>
              <a:t>)</a:t>
            </a:r>
            <a:endParaRPr lang="en-US" dirty="0">
              <a:solidFill>
                <a:srgbClr val="FF0000"/>
              </a:solidFill>
            </a:endParaRPr>
          </a:p>
        </p:txBody>
      </p:sp>
    </p:spTree>
    <p:custDataLst>
      <p:tags r:id="rId1"/>
    </p:custDataLst>
  </p:cSld>
  <p:clrMapOvr>
    <a:masterClrMapping/>
  </p:clrMapOvr>
  <p:transition spd="slow" advTm="52115"/>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48149"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1" fill="hold" display="0">
                  <p:stCondLst>
                    <p:cond delay="indefinite"/>
                  </p:stCondLst>
                  <p:endCondLst>
                    <p:cond evt="onStopAudio" delay="0">
                      <p:tgtEl>
                        <p:sldTgt/>
                      </p:tgtEl>
                    </p:cond>
                  </p:endCondLst>
                </p:cTn>
                <p:tgtEl>
                  <p:spTgt spid="2"/>
                </p:tgtEl>
              </p:cMediaNode>
            </p:audio>
          </p:childTnLst>
        </p:cTn>
      </p:par>
    </p:tnLst>
    <p:bldLst>
      <p:bldP spid="10" grpId="0" animBg="1"/>
    </p:bldLst>
  </p:timing>
  <p:extLst>
    <p:ext uri="{E180D4A7-C9FB-4DFB-919C-405C955672EB}">
      <p14:showEvtLst xmlns:p14="http://schemas.microsoft.com/office/powerpoint/2010/main">
        <p14:playEvt time="46" objId="2"/>
        <p14:stopEvt time="48403" objId="2"/>
      </p14:showEvt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Fleisch, Im Haus enthält.&#10;&#10;KI-generierte Inhalte können fehlerhaft sein.">
            <a:extLst>
              <a:ext uri="{FF2B5EF4-FFF2-40B4-BE49-F238E27FC236}">
                <a16:creationId xmlns:a16="http://schemas.microsoft.com/office/drawing/2014/main" id="{D00224ED-9A47-8421-6734-4229712553C7}"/>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147888" y="2205039"/>
            <a:ext cx="5968501" cy="3920068"/>
          </a:xfrm>
          <a:prstGeom prst="rect">
            <a:avLst/>
          </a:prstGeom>
        </p:spPr>
      </p:pic>
      <p:sp>
        <p:nvSpPr>
          <p:cNvPr id="3" name="Titel 2">
            <a:extLst>
              <a:ext uri="{FF2B5EF4-FFF2-40B4-BE49-F238E27FC236}">
                <a16:creationId xmlns:a16="http://schemas.microsoft.com/office/drawing/2014/main" id="{6FCBD669-8D67-A3AD-C3F0-048EA56457BB}"/>
              </a:ext>
            </a:extLst>
          </p:cNvPr>
          <p:cNvSpPr>
            <a:spLocks noGrp="1"/>
          </p:cNvSpPr>
          <p:nvPr>
            <p:ph type="title"/>
          </p:nvPr>
        </p:nvSpPr>
        <p:spPr>
          <a:xfrm>
            <a:off x="2135189" y="1052514"/>
            <a:ext cx="8137525" cy="666751"/>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Nahaufnahme mit WW  </a:t>
            </a:r>
            <a:br>
              <a:rPr lang="de-CH" sz="2800" b="1" dirty="0">
                <a:solidFill>
                  <a:schemeClr val="tx1">
                    <a:lumMod val="85000"/>
                    <a:lumOff val="15000"/>
                  </a:schemeClr>
                </a:solidFill>
                <a:latin typeface="Arial" panose="020B0604020202020204" pitchFamily="34" charset="0"/>
                <a:cs typeface="Arial" panose="020B0604020202020204" pitchFamily="34" charset="0"/>
              </a:rPr>
            </a:br>
            <a:r>
              <a:rPr lang="de-CH" sz="2800" b="1" dirty="0">
                <a:solidFill>
                  <a:schemeClr val="tx1">
                    <a:lumMod val="85000"/>
                    <a:lumOff val="15000"/>
                  </a:schemeClr>
                </a:solidFill>
                <a:latin typeface="Arial" panose="020B0604020202020204" pitchFamily="34" charset="0"/>
                <a:cs typeface="Arial" panose="020B0604020202020204" pitchFamily="34" charset="0"/>
              </a:rPr>
              <a:t>= Tonnenförmige Verzeichnung</a:t>
            </a:r>
          </a:p>
        </p:txBody>
      </p:sp>
      <p:pic>
        <p:nvPicPr>
          <p:cNvPr id="66564" name="Picture 4">
            <a:extLst>
              <a:ext uri="{FF2B5EF4-FFF2-40B4-BE49-F238E27FC236}">
                <a16:creationId xmlns:a16="http://schemas.microsoft.com/office/drawing/2014/main" id="{FBAE63DC-D133-92B8-FAEE-30D95D429327}"/>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6389689" y="4003676"/>
            <a:ext cx="3883025"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Audio 1">
            <a:hlinkClick r:id="" action="ppaction://media"/>
            <a:extLst>
              <a:ext uri="{FF2B5EF4-FFF2-40B4-BE49-F238E27FC236}">
                <a16:creationId xmlns:a16="http://schemas.microsoft.com/office/drawing/2014/main" id="{DE4824C3-9944-26F5-98B5-043D9C69CADF}"/>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advTm="2752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6564"/>
                                        </p:tgtEl>
                                        <p:attrNameLst>
                                          <p:attrName>style.visibility</p:attrName>
                                        </p:attrNameLst>
                                      </p:cBhvr>
                                      <p:to>
                                        <p:strVal val="visible"/>
                                      </p:to>
                                    </p:set>
                                    <p:animEffect transition="in" filter="fade">
                                      <p:cBhvr>
                                        <p:cTn id="11" dur="750"/>
                                        <p:tgtEl>
                                          <p:spTgt spid="6656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2"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29" objId="2"/>
        <p14:stopEvt time="27526" objId="2"/>
      </p14:showEvt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4685424-9276-3DB7-E7E0-2F6083ADFE48}"/>
              </a:ext>
            </a:extLst>
          </p:cNvPr>
          <p:cNvSpPr>
            <a:spLocks noGrp="1"/>
          </p:cNvSpPr>
          <p:nvPr>
            <p:ph type="title"/>
          </p:nvPr>
        </p:nvSpPr>
        <p:spPr>
          <a:xfrm>
            <a:off x="2135189" y="133032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Objektiv-Brennweiten</a:t>
            </a:r>
          </a:p>
        </p:txBody>
      </p:sp>
      <p:sp>
        <p:nvSpPr>
          <p:cNvPr id="69634" name="Textfeld 3">
            <a:extLst>
              <a:ext uri="{FF2B5EF4-FFF2-40B4-BE49-F238E27FC236}">
                <a16:creationId xmlns:a16="http://schemas.microsoft.com/office/drawing/2014/main" id="{48E51C24-4BA8-9145-49DD-D6C33B38153D}"/>
              </a:ext>
            </a:extLst>
          </p:cNvPr>
          <p:cNvSpPr txBox="1">
            <a:spLocks noChangeArrowheads="1"/>
          </p:cNvSpPr>
          <p:nvPr/>
        </p:nvSpPr>
        <p:spPr bwMode="auto">
          <a:xfrm>
            <a:off x="3432175" y="5913439"/>
            <a:ext cx="1841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endParaRPr lang="de-CH" altLang="de-DE"/>
          </a:p>
        </p:txBody>
      </p:sp>
      <p:sp>
        <p:nvSpPr>
          <p:cNvPr id="69635" name="Textfeld 4">
            <a:extLst>
              <a:ext uri="{FF2B5EF4-FFF2-40B4-BE49-F238E27FC236}">
                <a16:creationId xmlns:a16="http://schemas.microsoft.com/office/drawing/2014/main" id="{2B20A28D-F0B0-038C-2328-853122C4B2AD}"/>
              </a:ext>
            </a:extLst>
          </p:cNvPr>
          <p:cNvSpPr txBox="1">
            <a:spLocks noChangeArrowheads="1"/>
          </p:cNvSpPr>
          <p:nvPr/>
        </p:nvSpPr>
        <p:spPr bwMode="auto">
          <a:xfrm>
            <a:off x="2495550" y="5229225"/>
            <a:ext cx="18415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endParaRPr lang="de-CH" altLang="de-DE"/>
          </a:p>
        </p:txBody>
      </p:sp>
      <p:cxnSp>
        <p:nvCxnSpPr>
          <p:cNvPr id="5" name="Gerade Verbindung 4">
            <a:extLst>
              <a:ext uri="{FF2B5EF4-FFF2-40B4-BE49-F238E27FC236}">
                <a16:creationId xmlns:a16="http://schemas.microsoft.com/office/drawing/2014/main" id="{E8EFEDCE-C11E-D480-7E2B-E8EFAE222579}"/>
              </a:ext>
            </a:extLst>
          </p:cNvPr>
          <p:cNvCxnSpPr/>
          <p:nvPr/>
        </p:nvCxnSpPr>
        <p:spPr>
          <a:xfrm>
            <a:off x="3225801" y="2708275"/>
            <a:ext cx="593407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9637" name="Textfeld 19">
            <a:extLst>
              <a:ext uri="{FF2B5EF4-FFF2-40B4-BE49-F238E27FC236}">
                <a16:creationId xmlns:a16="http://schemas.microsoft.com/office/drawing/2014/main" id="{A66264E3-C532-2A16-FB88-7732FF123460}"/>
              </a:ext>
            </a:extLst>
          </p:cNvPr>
          <p:cNvSpPr txBox="1">
            <a:spLocks noChangeArrowheads="1"/>
          </p:cNvSpPr>
          <p:nvPr/>
        </p:nvSpPr>
        <p:spPr bwMode="auto">
          <a:xfrm>
            <a:off x="4492625" y="3141664"/>
            <a:ext cx="1747838" cy="1169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algn="ctr" eaLnBrk="1" hangingPunct="1">
              <a:spcAft>
                <a:spcPct val="0"/>
              </a:spcAft>
              <a:buFontTx/>
              <a:buNone/>
            </a:pPr>
            <a:r>
              <a:rPr lang="de-CH" altLang="de-DE" sz="1400" b="1" dirty="0"/>
              <a:t>50 mm</a:t>
            </a:r>
          </a:p>
          <a:p>
            <a:pPr algn="ctr" eaLnBrk="1" hangingPunct="1">
              <a:spcAft>
                <a:spcPct val="0"/>
              </a:spcAft>
              <a:buFontTx/>
              <a:buNone/>
            </a:pPr>
            <a:r>
              <a:rPr lang="de-CH" altLang="de-DE" sz="1400" b="1" dirty="0"/>
              <a:t>Normalbrennweite</a:t>
            </a:r>
          </a:p>
          <a:p>
            <a:pPr algn="ctr" eaLnBrk="1" hangingPunct="1">
              <a:spcAft>
                <a:spcPct val="0"/>
              </a:spcAft>
              <a:buFontTx/>
              <a:buNone/>
            </a:pPr>
            <a:endParaRPr lang="de-CH" altLang="de-DE" sz="1400" b="1" dirty="0"/>
          </a:p>
          <a:p>
            <a:pPr algn="ctr" eaLnBrk="1" hangingPunct="1">
              <a:spcAft>
                <a:spcPct val="0"/>
              </a:spcAft>
              <a:buFontTx/>
              <a:buNone/>
            </a:pPr>
            <a:r>
              <a:rPr lang="de-CH" altLang="de-DE" sz="1400" dirty="0"/>
              <a:t>(Nahezu)</a:t>
            </a:r>
          </a:p>
          <a:p>
            <a:pPr algn="ctr" eaLnBrk="1" hangingPunct="1">
              <a:spcAft>
                <a:spcPct val="0"/>
              </a:spcAft>
              <a:buFontTx/>
              <a:buNone/>
            </a:pPr>
            <a:r>
              <a:rPr lang="de-CH" altLang="de-DE" sz="1400" dirty="0"/>
              <a:t>Verzeichnungsfrei</a:t>
            </a:r>
          </a:p>
        </p:txBody>
      </p:sp>
      <p:sp>
        <p:nvSpPr>
          <p:cNvPr id="69638" name="Textfeld 25">
            <a:extLst>
              <a:ext uri="{FF2B5EF4-FFF2-40B4-BE49-F238E27FC236}">
                <a16:creationId xmlns:a16="http://schemas.microsoft.com/office/drawing/2014/main" id="{FC61EB58-A427-09E0-99A7-6C47BDA824B4}"/>
              </a:ext>
            </a:extLst>
          </p:cNvPr>
          <p:cNvSpPr txBox="1">
            <a:spLocks noChangeArrowheads="1"/>
          </p:cNvSpPr>
          <p:nvPr/>
        </p:nvSpPr>
        <p:spPr bwMode="auto">
          <a:xfrm>
            <a:off x="1931988" y="3141664"/>
            <a:ext cx="2476500" cy="1169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algn="ctr" eaLnBrk="1" hangingPunct="1">
              <a:spcAft>
                <a:spcPct val="0"/>
              </a:spcAft>
              <a:buFontTx/>
              <a:buNone/>
            </a:pPr>
            <a:r>
              <a:rPr lang="de-CH" altLang="de-DE" sz="1400" dirty="0"/>
              <a:t>24 mm</a:t>
            </a:r>
          </a:p>
          <a:p>
            <a:pPr algn="ctr" eaLnBrk="1" hangingPunct="1">
              <a:spcAft>
                <a:spcPct val="0"/>
              </a:spcAft>
              <a:buFontTx/>
              <a:buNone/>
            </a:pPr>
            <a:r>
              <a:rPr lang="de-CH" altLang="de-DE" sz="1400" dirty="0"/>
              <a:t>Weitwinkelbrennweite</a:t>
            </a:r>
          </a:p>
          <a:p>
            <a:pPr algn="ctr" eaLnBrk="1" hangingPunct="1">
              <a:spcAft>
                <a:spcPct val="0"/>
              </a:spcAft>
              <a:buFontTx/>
              <a:buNone/>
            </a:pPr>
            <a:endParaRPr lang="de-CH" altLang="de-DE" sz="1400" dirty="0"/>
          </a:p>
          <a:p>
            <a:pPr algn="ctr" eaLnBrk="1" hangingPunct="1">
              <a:spcAft>
                <a:spcPct val="0"/>
              </a:spcAft>
              <a:buFontTx/>
              <a:buNone/>
            </a:pPr>
            <a:r>
              <a:rPr lang="de-CH" altLang="de-DE" sz="1400" i="1" dirty="0">
                <a:solidFill>
                  <a:srgbClr val="FF0000"/>
                </a:solidFill>
              </a:rPr>
              <a:t>Tonnenförmige</a:t>
            </a:r>
          </a:p>
          <a:p>
            <a:pPr algn="ctr" eaLnBrk="1" hangingPunct="1">
              <a:spcAft>
                <a:spcPct val="0"/>
              </a:spcAft>
              <a:buFontTx/>
              <a:buNone/>
            </a:pPr>
            <a:r>
              <a:rPr lang="de-CH" altLang="de-DE" sz="1400" i="1" dirty="0">
                <a:solidFill>
                  <a:srgbClr val="FF0000"/>
                </a:solidFill>
              </a:rPr>
              <a:t>Verzeichnung im Nahbereich</a:t>
            </a:r>
          </a:p>
        </p:txBody>
      </p:sp>
      <p:sp>
        <p:nvSpPr>
          <p:cNvPr id="69639" name="Textfeld 28">
            <a:extLst>
              <a:ext uri="{FF2B5EF4-FFF2-40B4-BE49-F238E27FC236}">
                <a16:creationId xmlns:a16="http://schemas.microsoft.com/office/drawing/2014/main" id="{80D4D762-83DE-4DB3-8819-BD47835E50F2}"/>
              </a:ext>
            </a:extLst>
          </p:cNvPr>
          <p:cNvSpPr txBox="1">
            <a:spLocks noChangeArrowheads="1"/>
          </p:cNvSpPr>
          <p:nvPr/>
        </p:nvSpPr>
        <p:spPr bwMode="auto">
          <a:xfrm>
            <a:off x="6432550" y="3141664"/>
            <a:ext cx="1608138" cy="1169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algn="ctr" eaLnBrk="1" hangingPunct="1">
              <a:spcAft>
                <a:spcPct val="0"/>
              </a:spcAft>
              <a:buFontTx/>
              <a:buNone/>
            </a:pPr>
            <a:r>
              <a:rPr lang="de-CH" altLang="de-DE" sz="1400"/>
              <a:t>70 mm</a:t>
            </a:r>
          </a:p>
          <a:p>
            <a:pPr algn="ctr" eaLnBrk="1" hangingPunct="1">
              <a:spcAft>
                <a:spcPct val="0"/>
              </a:spcAft>
              <a:buFontTx/>
              <a:buNone/>
            </a:pPr>
            <a:r>
              <a:rPr lang="de-CH" altLang="de-DE" sz="1400"/>
              <a:t>Telebrennweite</a:t>
            </a:r>
          </a:p>
          <a:p>
            <a:pPr algn="ctr" eaLnBrk="1" hangingPunct="1">
              <a:spcAft>
                <a:spcPct val="0"/>
              </a:spcAft>
              <a:buFontTx/>
              <a:buNone/>
            </a:pPr>
            <a:endParaRPr lang="de-CH" altLang="de-DE" sz="1400"/>
          </a:p>
          <a:p>
            <a:pPr algn="ctr" eaLnBrk="1" hangingPunct="1">
              <a:spcAft>
                <a:spcPct val="0"/>
              </a:spcAft>
              <a:buFontTx/>
              <a:buNone/>
            </a:pPr>
            <a:r>
              <a:rPr lang="de-CH" altLang="de-DE" sz="1400"/>
              <a:t>(Nahezu)</a:t>
            </a:r>
          </a:p>
          <a:p>
            <a:pPr algn="ctr" eaLnBrk="1" hangingPunct="1">
              <a:spcAft>
                <a:spcPct val="0"/>
              </a:spcAft>
              <a:buFontTx/>
              <a:buNone/>
            </a:pPr>
            <a:r>
              <a:rPr lang="de-CH" altLang="de-DE" sz="1400"/>
              <a:t>Verzeichnungsfrei</a:t>
            </a:r>
          </a:p>
        </p:txBody>
      </p:sp>
      <p:sp>
        <p:nvSpPr>
          <p:cNvPr id="24" name="Gleichschenkliges Dreieck 23">
            <a:extLst>
              <a:ext uri="{FF2B5EF4-FFF2-40B4-BE49-F238E27FC236}">
                <a16:creationId xmlns:a16="http://schemas.microsoft.com/office/drawing/2014/main" id="{77DAF2F9-E557-5349-42FF-5E8F6451926B}"/>
              </a:ext>
            </a:extLst>
          </p:cNvPr>
          <p:cNvSpPr/>
          <p:nvPr/>
        </p:nvSpPr>
        <p:spPr>
          <a:xfrm>
            <a:off x="5232400" y="2420939"/>
            <a:ext cx="268288" cy="682625"/>
          </a:xfrm>
          <a:prstGeom prst="triangl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34" name="Gleichschenkliges Dreieck 33">
            <a:extLst>
              <a:ext uri="{FF2B5EF4-FFF2-40B4-BE49-F238E27FC236}">
                <a16:creationId xmlns:a16="http://schemas.microsoft.com/office/drawing/2014/main" id="{97E79297-2594-7636-A862-E8A19D40AF11}"/>
              </a:ext>
            </a:extLst>
          </p:cNvPr>
          <p:cNvSpPr/>
          <p:nvPr/>
        </p:nvSpPr>
        <p:spPr>
          <a:xfrm>
            <a:off x="7140575" y="2708275"/>
            <a:ext cx="196850" cy="395288"/>
          </a:xfrm>
          <a:prstGeom prst="triangle">
            <a:avLst/>
          </a:prstGeom>
          <a:solidFill>
            <a:schemeClr val="accent4">
              <a:lumMod val="75000"/>
              <a:lumOff val="2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35" name="Gleichschenkliges Dreieck 34">
            <a:extLst>
              <a:ext uri="{FF2B5EF4-FFF2-40B4-BE49-F238E27FC236}">
                <a16:creationId xmlns:a16="http://schemas.microsoft.com/office/drawing/2014/main" id="{0D8E481C-3687-5FF7-1D8F-00BECEDE900A}"/>
              </a:ext>
            </a:extLst>
          </p:cNvPr>
          <p:cNvSpPr/>
          <p:nvPr/>
        </p:nvSpPr>
        <p:spPr>
          <a:xfrm>
            <a:off x="9048750" y="2708275"/>
            <a:ext cx="196850" cy="395288"/>
          </a:xfrm>
          <a:prstGeom prst="triangle">
            <a:avLst/>
          </a:prstGeom>
          <a:solidFill>
            <a:schemeClr val="accent4">
              <a:lumMod val="75000"/>
              <a:lumOff val="25000"/>
            </a:schemeClr>
          </a:solidFill>
          <a:ln>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69643" name="Textfeld 35">
            <a:extLst>
              <a:ext uri="{FF2B5EF4-FFF2-40B4-BE49-F238E27FC236}">
                <a16:creationId xmlns:a16="http://schemas.microsoft.com/office/drawing/2014/main" id="{7422ADCE-413B-64D3-F6EF-27EAEDC82850}"/>
              </a:ext>
            </a:extLst>
          </p:cNvPr>
          <p:cNvSpPr txBox="1">
            <a:spLocks noChangeArrowheads="1"/>
          </p:cNvSpPr>
          <p:nvPr/>
        </p:nvSpPr>
        <p:spPr bwMode="auto">
          <a:xfrm>
            <a:off x="8466139" y="3141664"/>
            <a:ext cx="1387475" cy="1169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algn="ctr" eaLnBrk="1" hangingPunct="1">
              <a:spcAft>
                <a:spcPct val="0"/>
              </a:spcAft>
              <a:buFontTx/>
              <a:buNone/>
            </a:pPr>
            <a:r>
              <a:rPr lang="de-CH" altLang="de-DE" sz="1400"/>
              <a:t>100 + x mm</a:t>
            </a:r>
          </a:p>
          <a:p>
            <a:pPr algn="ctr" eaLnBrk="1" hangingPunct="1">
              <a:spcAft>
                <a:spcPct val="0"/>
              </a:spcAft>
              <a:buFontTx/>
              <a:buNone/>
            </a:pPr>
            <a:r>
              <a:rPr lang="de-CH" altLang="de-DE" sz="1400"/>
              <a:t>Telebrennweite</a:t>
            </a:r>
          </a:p>
          <a:p>
            <a:pPr algn="ctr" eaLnBrk="1" hangingPunct="1">
              <a:spcAft>
                <a:spcPct val="0"/>
              </a:spcAft>
              <a:buFontTx/>
              <a:buNone/>
            </a:pPr>
            <a:endParaRPr lang="de-CH" altLang="de-DE" sz="1400"/>
          </a:p>
          <a:p>
            <a:pPr algn="ctr" eaLnBrk="1" hangingPunct="1">
              <a:spcAft>
                <a:spcPct val="0"/>
              </a:spcAft>
              <a:buFontTx/>
              <a:buNone/>
            </a:pPr>
            <a:r>
              <a:rPr lang="de-CH" altLang="de-DE" sz="1400" i="1"/>
              <a:t>Kissenförmige</a:t>
            </a:r>
          </a:p>
          <a:p>
            <a:pPr algn="ctr" eaLnBrk="1" hangingPunct="1">
              <a:spcAft>
                <a:spcPct val="0"/>
              </a:spcAft>
              <a:buFontTx/>
              <a:buNone/>
            </a:pPr>
            <a:r>
              <a:rPr lang="de-CH" altLang="de-DE" sz="1400" i="1"/>
              <a:t>Verzeichnung</a:t>
            </a:r>
          </a:p>
        </p:txBody>
      </p:sp>
      <p:cxnSp>
        <p:nvCxnSpPr>
          <p:cNvPr id="37" name="Gerade Verbindung 36">
            <a:extLst>
              <a:ext uri="{FF2B5EF4-FFF2-40B4-BE49-F238E27FC236}">
                <a16:creationId xmlns:a16="http://schemas.microsoft.com/office/drawing/2014/main" id="{DE13845F-FECD-B425-98B0-E2931DE5D6EB}"/>
              </a:ext>
            </a:extLst>
          </p:cNvPr>
          <p:cNvCxnSpPr/>
          <p:nvPr/>
        </p:nvCxnSpPr>
        <p:spPr>
          <a:xfrm flipH="1">
            <a:off x="2133600" y="2708275"/>
            <a:ext cx="1092200" cy="0"/>
          </a:xfrm>
          <a:prstGeom prst="line">
            <a:avLst/>
          </a:prstGeom>
          <a:ln w="3810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50" name="Gerade Verbindung 49">
            <a:extLst>
              <a:ext uri="{FF2B5EF4-FFF2-40B4-BE49-F238E27FC236}">
                <a16:creationId xmlns:a16="http://schemas.microsoft.com/office/drawing/2014/main" id="{076CBE04-CA16-5AF8-A02B-E7E4635D8BDC}"/>
              </a:ext>
            </a:extLst>
          </p:cNvPr>
          <p:cNvCxnSpPr/>
          <p:nvPr/>
        </p:nvCxnSpPr>
        <p:spPr>
          <a:xfrm flipH="1">
            <a:off x="9159876" y="2708275"/>
            <a:ext cx="1077913" cy="0"/>
          </a:xfrm>
          <a:prstGeom prst="line">
            <a:avLst/>
          </a:prstGeom>
          <a:ln w="381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51" name="Gleichschenkliges Dreieck 50">
            <a:extLst>
              <a:ext uri="{FF2B5EF4-FFF2-40B4-BE49-F238E27FC236}">
                <a16:creationId xmlns:a16="http://schemas.microsoft.com/office/drawing/2014/main" id="{3361F94B-A59D-A3F1-1F8D-79FED0A603E8}"/>
              </a:ext>
            </a:extLst>
          </p:cNvPr>
          <p:cNvSpPr/>
          <p:nvPr/>
        </p:nvSpPr>
        <p:spPr>
          <a:xfrm>
            <a:off x="3071813" y="2708275"/>
            <a:ext cx="196850" cy="395288"/>
          </a:xfrm>
          <a:prstGeom prst="triangl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69647" name="Textfeld 62">
            <a:extLst>
              <a:ext uri="{FF2B5EF4-FFF2-40B4-BE49-F238E27FC236}">
                <a16:creationId xmlns:a16="http://schemas.microsoft.com/office/drawing/2014/main" id="{B662B8D9-DF45-3D83-CB2D-7174911E017E}"/>
              </a:ext>
            </a:extLst>
          </p:cNvPr>
          <p:cNvSpPr txBox="1">
            <a:spLocks noChangeArrowheads="1"/>
          </p:cNvSpPr>
          <p:nvPr/>
        </p:nvSpPr>
        <p:spPr bwMode="auto">
          <a:xfrm>
            <a:off x="3540125" y="2312989"/>
            <a:ext cx="1639888"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a:t>Weitwinkel ◄ </a:t>
            </a:r>
          </a:p>
        </p:txBody>
      </p:sp>
      <p:sp>
        <p:nvSpPr>
          <p:cNvPr id="69648" name="Textfeld 67">
            <a:extLst>
              <a:ext uri="{FF2B5EF4-FFF2-40B4-BE49-F238E27FC236}">
                <a16:creationId xmlns:a16="http://schemas.microsoft.com/office/drawing/2014/main" id="{50DC2CCD-3F82-753E-01FA-A7A9F46769BA}"/>
              </a:ext>
            </a:extLst>
          </p:cNvPr>
          <p:cNvSpPr txBox="1">
            <a:spLocks noChangeArrowheads="1"/>
          </p:cNvSpPr>
          <p:nvPr/>
        </p:nvSpPr>
        <p:spPr bwMode="auto">
          <a:xfrm>
            <a:off x="5478464" y="2312989"/>
            <a:ext cx="108902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ts val="863"/>
              </a:spcAft>
              <a:buFont typeface="Arial" panose="020B0604020202020204" pitchFamily="34" charset="0"/>
              <a:defRPr>
                <a:solidFill>
                  <a:schemeClr val="tx1"/>
                </a:solidFill>
                <a:latin typeface="Arial" panose="020B0604020202020204" pitchFamily="34" charset="0"/>
              </a:defRPr>
            </a:lvl1pPr>
            <a:lvl2pPr marL="742950" indent="-285750">
              <a:spcAft>
                <a:spcPts val="863"/>
              </a:spcAft>
              <a:buFont typeface="Arial" panose="020B0604020202020204" pitchFamily="34" charset="0"/>
              <a:buChar char="–"/>
              <a:defRPr>
                <a:solidFill>
                  <a:schemeClr val="tx1"/>
                </a:solidFill>
                <a:latin typeface="Arial" panose="020B0604020202020204" pitchFamily="34" charset="0"/>
              </a:defRPr>
            </a:lvl2pPr>
            <a:lvl3pPr marL="1143000" indent="-228600">
              <a:spcAft>
                <a:spcPts val="675"/>
              </a:spcAft>
              <a:buFont typeface="Arial" panose="020B0604020202020204" pitchFamily="34" charset="0"/>
              <a:defRPr sz="1400">
                <a:solidFill>
                  <a:schemeClr val="tx1"/>
                </a:solidFill>
                <a:latin typeface="Arial" panose="020B0604020202020204" pitchFamily="34" charset="0"/>
              </a:defRPr>
            </a:lvl3pPr>
            <a:lvl4pPr marL="1600200" indent="-228600">
              <a:spcAft>
                <a:spcPts val="675"/>
              </a:spcAft>
              <a:buFont typeface="Arial" panose="020B0604020202020204" pitchFamily="34" charset="0"/>
              <a:buChar char="–"/>
              <a:defRPr sz="1400">
                <a:solidFill>
                  <a:schemeClr val="tx1"/>
                </a:solidFill>
                <a:latin typeface="Arial" panose="020B0604020202020204" pitchFamily="34" charset="0"/>
              </a:defRPr>
            </a:lvl4pPr>
            <a:lvl5pPr marL="2057400" indent="-228600">
              <a:buFont typeface="Arial" panose="020B0604020202020204" pitchFamily="34" charset="0"/>
              <a:defRPr sz="1000">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sz="1000">
                <a:solidFill>
                  <a:schemeClr val="tx1"/>
                </a:solidFill>
                <a:latin typeface="Arial" panose="020B0604020202020204" pitchFamily="34" charset="0"/>
              </a:defRPr>
            </a:lvl9pPr>
          </a:lstStyle>
          <a:p>
            <a:pPr eaLnBrk="1" hangingPunct="1">
              <a:spcAft>
                <a:spcPct val="0"/>
              </a:spcAft>
              <a:buFontTx/>
              <a:buNone/>
            </a:pPr>
            <a:r>
              <a:rPr lang="de-CH" altLang="de-DE"/>
              <a:t>  ► Tele </a:t>
            </a:r>
          </a:p>
        </p:txBody>
      </p:sp>
      <p:pic>
        <p:nvPicPr>
          <p:cNvPr id="2" name="Audio 1">
            <a:hlinkClick r:id="" action="ppaction://media"/>
            <a:extLst>
              <a:ext uri="{FF2B5EF4-FFF2-40B4-BE49-F238E27FC236}">
                <a16:creationId xmlns:a16="http://schemas.microsoft.com/office/drawing/2014/main" id="{9B20DC4D-7FCB-88A8-EDF9-DE15B15F551D}"/>
              </a:ext>
            </a:extLst>
          </p:cNvPr>
          <p:cNvPicPr>
            <a:picLocks noChangeAspect="1"/>
          </p:cNvPicPr>
          <p:nvPr>
            <a:audioFile r:link="rId2"/>
            <p:extLst>
              <p:ext uri="{DAA4B4D4-6D71-4841-9C94-3DE7FCFB9230}">
                <p14:media xmlns:p14="http://schemas.microsoft.com/office/powerpoint/2010/main" r:embed="rId1"/>
              </p:ext>
            </p:extLst>
          </p:nvPr>
        </p:nvPicPr>
        <p:blipFill>
          <a:blip r:embed="rId5">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feld 3">
            <a:extLst>
              <a:ext uri="{FF2B5EF4-FFF2-40B4-BE49-F238E27FC236}">
                <a16:creationId xmlns:a16="http://schemas.microsoft.com/office/drawing/2014/main" id="{59189636-5553-C82D-34AF-2B81EE7346C7}"/>
              </a:ext>
            </a:extLst>
          </p:cNvPr>
          <p:cNvSpPr txBox="1"/>
          <p:nvPr/>
        </p:nvSpPr>
        <p:spPr>
          <a:xfrm>
            <a:off x="2063552" y="4469632"/>
            <a:ext cx="2274888" cy="615553"/>
          </a:xfrm>
          <a:prstGeom prst="rect">
            <a:avLst/>
          </a:prstGeom>
          <a:solidFill>
            <a:srgbClr val="999999"/>
          </a:solidFill>
        </p:spPr>
        <p:txBody>
          <a:bodyPr wrap="square" rtlCol="0">
            <a:spAutoFit/>
          </a:bodyPr>
          <a:lstStyle/>
          <a:p>
            <a:pPr algn="ctr"/>
            <a:r>
              <a:rPr lang="de-DE" dirty="0"/>
              <a:t>↓</a:t>
            </a:r>
          </a:p>
          <a:p>
            <a:r>
              <a:rPr lang="de-DE" sz="1600" dirty="0"/>
              <a:t>Übersichtsaufnahmen</a:t>
            </a:r>
          </a:p>
        </p:txBody>
      </p:sp>
      <p:sp>
        <p:nvSpPr>
          <p:cNvPr id="21" name="Textfeld 20">
            <a:extLst>
              <a:ext uri="{FF2B5EF4-FFF2-40B4-BE49-F238E27FC236}">
                <a16:creationId xmlns:a16="http://schemas.microsoft.com/office/drawing/2014/main" id="{DFECF065-FFB0-9F06-10C3-9184326AE401}"/>
              </a:ext>
            </a:extLst>
          </p:cNvPr>
          <p:cNvSpPr txBox="1"/>
          <p:nvPr/>
        </p:nvSpPr>
        <p:spPr>
          <a:xfrm>
            <a:off x="5087888" y="4469632"/>
            <a:ext cx="5184824" cy="615553"/>
          </a:xfrm>
          <a:prstGeom prst="rect">
            <a:avLst/>
          </a:prstGeom>
          <a:solidFill>
            <a:srgbClr val="999999"/>
          </a:solidFill>
        </p:spPr>
        <p:txBody>
          <a:bodyPr wrap="square" rtlCol="0">
            <a:spAutoFit/>
          </a:bodyPr>
          <a:lstStyle/>
          <a:p>
            <a:pPr algn="ctr"/>
            <a:r>
              <a:rPr lang="de-DE" dirty="0"/>
              <a:t>↓</a:t>
            </a:r>
          </a:p>
          <a:p>
            <a:r>
              <a:rPr lang="de-DE" sz="1600" dirty="0"/>
              <a:t>Nahaufnahmen (Teil-, Detailaufnahmen) </a:t>
            </a:r>
            <a:r>
              <a:rPr lang="de-DE" sz="1200" dirty="0"/>
              <a:t>Portraits, Befunde</a:t>
            </a:r>
          </a:p>
        </p:txBody>
      </p:sp>
    </p:spTree>
  </p:cSld>
  <p:clrMapOvr>
    <a:masterClrMapping/>
  </p:clrMapOvr>
  <p:transition spd="slow" advTm="39417"/>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30" objId="2"/>
        <p14:stopEvt time="30764" objId="2"/>
      </p14:showEvt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38F1047-77BF-F00A-E0F2-3C42FCD35D2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40125" y="908050"/>
            <a:ext cx="5327650" cy="3556000"/>
          </a:xfrm>
          <a:prstGeom prst="rect">
            <a:avLst/>
          </a:prstGeom>
          <a:ln w="38100">
            <a:solidFill>
              <a:schemeClr val="accent6"/>
            </a:solidFill>
            <a:prstDash val="solid"/>
          </a:ln>
        </p:spPr>
      </p:pic>
      <p:cxnSp>
        <p:nvCxnSpPr>
          <p:cNvPr id="6" name="Gerade Verbindung 5">
            <a:extLst>
              <a:ext uri="{FF2B5EF4-FFF2-40B4-BE49-F238E27FC236}">
                <a16:creationId xmlns:a16="http://schemas.microsoft.com/office/drawing/2014/main" id="{60898EE1-9810-9083-37CF-F5A7DFDD536F}"/>
              </a:ext>
            </a:extLst>
          </p:cNvPr>
          <p:cNvCxnSpPr/>
          <p:nvPr/>
        </p:nvCxnSpPr>
        <p:spPr>
          <a:xfrm>
            <a:off x="3540126" y="4464051"/>
            <a:ext cx="2663825" cy="1736725"/>
          </a:xfrm>
          <a:prstGeom prst="line">
            <a:avLst/>
          </a:prstGeom>
          <a:ln w="381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13" name="Gerade Verbindung 12">
            <a:extLst>
              <a:ext uri="{FF2B5EF4-FFF2-40B4-BE49-F238E27FC236}">
                <a16:creationId xmlns:a16="http://schemas.microsoft.com/office/drawing/2014/main" id="{1D56A093-9A51-AFFD-95DD-5FA9363DE837}"/>
              </a:ext>
            </a:extLst>
          </p:cNvPr>
          <p:cNvCxnSpPr/>
          <p:nvPr/>
        </p:nvCxnSpPr>
        <p:spPr>
          <a:xfrm flipH="1">
            <a:off x="6203951" y="4464051"/>
            <a:ext cx="2663825" cy="1736725"/>
          </a:xfrm>
          <a:prstGeom prst="line">
            <a:avLst/>
          </a:prstGeom>
          <a:ln w="381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14" name="Rechteck 13">
            <a:extLst>
              <a:ext uri="{FF2B5EF4-FFF2-40B4-BE49-F238E27FC236}">
                <a16:creationId xmlns:a16="http://schemas.microsoft.com/office/drawing/2014/main" id="{0BC7F9DC-5853-04B7-5D64-748FD888A40C}"/>
              </a:ext>
            </a:extLst>
          </p:cNvPr>
          <p:cNvSpPr/>
          <p:nvPr/>
        </p:nvSpPr>
        <p:spPr>
          <a:xfrm>
            <a:off x="4908550" y="1844675"/>
            <a:ext cx="2590800" cy="1728788"/>
          </a:xfrm>
          <a:prstGeom prst="rect">
            <a:avLst/>
          </a:prstGeom>
          <a:noFill/>
          <a:ln w="38100">
            <a:solidFill>
              <a:schemeClr val="bg2">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cxnSp>
        <p:nvCxnSpPr>
          <p:cNvPr id="16" name="Gerade Verbindung 15">
            <a:extLst>
              <a:ext uri="{FF2B5EF4-FFF2-40B4-BE49-F238E27FC236}">
                <a16:creationId xmlns:a16="http://schemas.microsoft.com/office/drawing/2014/main" id="{D231521E-7E7E-5F76-5448-BBB1FAE6B9B5}"/>
              </a:ext>
            </a:extLst>
          </p:cNvPr>
          <p:cNvCxnSpPr/>
          <p:nvPr/>
        </p:nvCxnSpPr>
        <p:spPr>
          <a:xfrm>
            <a:off x="4908550" y="3573463"/>
            <a:ext cx="1295400" cy="2627312"/>
          </a:xfrm>
          <a:prstGeom prst="line">
            <a:avLst/>
          </a:prstGeom>
          <a:ln w="38100">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18" name="Gerade Verbindung 17">
            <a:extLst>
              <a:ext uri="{FF2B5EF4-FFF2-40B4-BE49-F238E27FC236}">
                <a16:creationId xmlns:a16="http://schemas.microsoft.com/office/drawing/2014/main" id="{AF22B3B6-02B5-6C86-F259-2C91F134E68D}"/>
              </a:ext>
            </a:extLst>
          </p:cNvPr>
          <p:cNvCxnSpPr/>
          <p:nvPr/>
        </p:nvCxnSpPr>
        <p:spPr>
          <a:xfrm flipH="1">
            <a:off x="6203950" y="3573463"/>
            <a:ext cx="1295400" cy="2627312"/>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13A1150A-2362-3EE9-F1A5-D51EE12512EA}"/>
              </a:ext>
            </a:extLst>
          </p:cNvPr>
          <p:cNvSpPr/>
          <p:nvPr/>
        </p:nvSpPr>
        <p:spPr>
          <a:xfrm>
            <a:off x="5303839" y="2168526"/>
            <a:ext cx="1800225" cy="1198563"/>
          </a:xfrm>
          <a:prstGeom prst="rect">
            <a:avLst/>
          </a:prstGeom>
          <a:noFill/>
          <a:ln>
            <a:solidFill>
              <a:schemeClr val="accent4">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cxnSp>
        <p:nvCxnSpPr>
          <p:cNvPr id="21" name="Gerade Verbindung 20">
            <a:extLst>
              <a:ext uri="{FF2B5EF4-FFF2-40B4-BE49-F238E27FC236}">
                <a16:creationId xmlns:a16="http://schemas.microsoft.com/office/drawing/2014/main" id="{3F565FCC-612E-E9AA-9EF5-78732D636BF6}"/>
              </a:ext>
            </a:extLst>
          </p:cNvPr>
          <p:cNvCxnSpPr/>
          <p:nvPr/>
        </p:nvCxnSpPr>
        <p:spPr>
          <a:xfrm>
            <a:off x="5303838" y="3367089"/>
            <a:ext cx="900112" cy="2833687"/>
          </a:xfrm>
          <a:prstGeom prst="line">
            <a:avLst/>
          </a:prstGeom>
          <a:ln w="38100">
            <a:solidFill>
              <a:schemeClr val="accent4">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 name="Gerade Verbindung 2">
            <a:extLst>
              <a:ext uri="{FF2B5EF4-FFF2-40B4-BE49-F238E27FC236}">
                <a16:creationId xmlns:a16="http://schemas.microsoft.com/office/drawing/2014/main" id="{C9561C48-30A1-EE4B-94E5-ED6F51598C78}"/>
              </a:ext>
            </a:extLst>
          </p:cNvPr>
          <p:cNvCxnSpPr/>
          <p:nvPr/>
        </p:nvCxnSpPr>
        <p:spPr>
          <a:xfrm flipH="1">
            <a:off x="6203951" y="3367089"/>
            <a:ext cx="900113" cy="2833687"/>
          </a:xfrm>
          <a:prstGeom prst="line">
            <a:avLst/>
          </a:prstGeom>
          <a:ln w="38100">
            <a:solidFill>
              <a:schemeClr val="accent4">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13C2903F-E4A5-94D5-586F-296DEC2C7E02}"/>
              </a:ext>
            </a:extLst>
          </p:cNvPr>
          <p:cNvSpPr txBox="1"/>
          <p:nvPr/>
        </p:nvSpPr>
        <p:spPr>
          <a:xfrm>
            <a:off x="5746750" y="960439"/>
            <a:ext cx="896938" cy="307975"/>
          </a:xfrm>
          <a:prstGeom prst="rect">
            <a:avLst/>
          </a:prstGeom>
          <a:noFill/>
        </p:spPr>
        <p:txBody>
          <a:bodyPr wrap="none">
            <a:spAutoFit/>
          </a:bodyPr>
          <a:lstStyle/>
          <a:p>
            <a:pPr eaLnBrk="1" hangingPunct="1">
              <a:defRPr/>
            </a:pPr>
            <a:r>
              <a:rPr lang="de-CH" sz="1200" dirty="0">
                <a:solidFill>
                  <a:schemeClr val="accent6">
                    <a:lumMod val="40000"/>
                    <a:lumOff val="60000"/>
                  </a:schemeClr>
                </a:solidFill>
                <a:latin typeface="Arial" charset="0"/>
                <a:cs typeface="Arial" charset="0"/>
              </a:rPr>
              <a:t>24mm 84</a:t>
            </a:r>
            <a:r>
              <a:rPr lang="de-CH" sz="1400" dirty="0">
                <a:solidFill>
                  <a:schemeClr val="accent6">
                    <a:lumMod val="40000"/>
                    <a:lumOff val="60000"/>
                  </a:schemeClr>
                </a:solidFill>
                <a:latin typeface="Arial" charset="0"/>
                <a:cs typeface="Arial" charset="0"/>
              </a:rPr>
              <a:t>°</a:t>
            </a:r>
          </a:p>
        </p:txBody>
      </p:sp>
      <p:sp>
        <p:nvSpPr>
          <p:cNvPr id="15" name="Textfeld 14">
            <a:extLst>
              <a:ext uri="{FF2B5EF4-FFF2-40B4-BE49-F238E27FC236}">
                <a16:creationId xmlns:a16="http://schemas.microsoft.com/office/drawing/2014/main" id="{B87E5C9F-E387-FD88-E1C4-A43DE2FBD88A}"/>
              </a:ext>
            </a:extLst>
          </p:cNvPr>
          <p:cNvSpPr txBox="1"/>
          <p:nvPr/>
        </p:nvSpPr>
        <p:spPr>
          <a:xfrm>
            <a:off x="5735639" y="1868488"/>
            <a:ext cx="885825" cy="277812"/>
          </a:xfrm>
          <a:prstGeom prst="rect">
            <a:avLst/>
          </a:prstGeom>
          <a:noFill/>
        </p:spPr>
        <p:txBody>
          <a:bodyPr wrap="none">
            <a:spAutoFit/>
          </a:bodyPr>
          <a:lstStyle/>
          <a:p>
            <a:pPr eaLnBrk="1" hangingPunct="1">
              <a:defRPr/>
            </a:pPr>
            <a:r>
              <a:rPr lang="de-CH" sz="1200" dirty="0">
                <a:solidFill>
                  <a:schemeClr val="bg2">
                    <a:lumMod val="20000"/>
                    <a:lumOff val="80000"/>
                  </a:schemeClr>
                </a:solidFill>
                <a:latin typeface="Arial" charset="0"/>
                <a:cs typeface="Arial" charset="0"/>
              </a:rPr>
              <a:t>50mm 47°</a:t>
            </a:r>
          </a:p>
        </p:txBody>
      </p:sp>
      <p:sp>
        <p:nvSpPr>
          <p:cNvPr id="17" name="Textfeld 16">
            <a:extLst>
              <a:ext uri="{FF2B5EF4-FFF2-40B4-BE49-F238E27FC236}">
                <a16:creationId xmlns:a16="http://schemas.microsoft.com/office/drawing/2014/main" id="{A6AE9C2C-5F08-9C94-E56D-2D943D56F953}"/>
              </a:ext>
            </a:extLst>
          </p:cNvPr>
          <p:cNvSpPr txBox="1"/>
          <p:nvPr/>
        </p:nvSpPr>
        <p:spPr>
          <a:xfrm>
            <a:off x="5751514" y="2216151"/>
            <a:ext cx="884237" cy="276225"/>
          </a:xfrm>
          <a:prstGeom prst="rect">
            <a:avLst/>
          </a:prstGeom>
          <a:noFill/>
        </p:spPr>
        <p:txBody>
          <a:bodyPr wrap="none">
            <a:spAutoFit/>
          </a:bodyPr>
          <a:lstStyle/>
          <a:p>
            <a:pPr eaLnBrk="1" hangingPunct="1">
              <a:defRPr/>
            </a:pPr>
            <a:r>
              <a:rPr lang="de-CH" sz="1200" dirty="0">
                <a:solidFill>
                  <a:schemeClr val="accent4">
                    <a:lumMod val="50000"/>
                    <a:lumOff val="50000"/>
                  </a:schemeClr>
                </a:solidFill>
                <a:latin typeface="Arial" charset="0"/>
                <a:cs typeface="Arial" charset="0"/>
              </a:rPr>
              <a:t>70mm 34°</a:t>
            </a:r>
          </a:p>
        </p:txBody>
      </p:sp>
      <p:sp>
        <p:nvSpPr>
          <p:cNvPr id="9" name="Rechteck 8">
            <a:extLst>
              <a:ext uri="{FF2B5EF4-FFF2-40B4-BE49-F238E27FC236}">
                <a16:creationId xmlns:a16="http://schemas.microsoft.com/office/drawing/2014/main" id="{1F18E767-37C8-1894-0A34-5E8C1CC05973}"/>
              </a:ext>
            </a:extLst>
          </p:cNvPr>
          <p:cNvSpPr/>
          <p:nvPr/>
        </p:nvSpPr>
        <p:spPr>
          <a:xfrm>
            <a:off x="5784851" y="6416675"/>
            <a:ext cx="817563" cy="342900"/>
          </a:xfrm>
          <a:prstGeom prst="rect">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0" name="Flussdiagramm: Magnetplattenspeicher 9">
            <a:extLst>
              <a:ext uri="{FF2B5EF4-FFF2-40B4-BE49-F238E27FC236}">
                <a16:creationId xmlns:a16="http://schemas.microsoft.com/office/drawing/2014/main" id="{14FD6D23-EAE7-A334-C588-693A95971546}"/>
              </a:ext>
            </a:extLst>
          </p:cNvPr>
          <p:cNvSpPr/>
          <p:nvPr/>
        </p:nvSpPr>
        <p:spPr>
          <a:xfrm>
            <a:off x="6007100" y="6237289"/>
            <a:ext cx="393700" cy="331787"/>
          </a:xfrm>
          <a:prstGeom prst="flowChartMagneticDisk">
            <a:avLst/>
          </a:prstGeom>
          <a:solidFill>
            <a:srgbClr val="B9282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pic>
        <p:nvPicPr>
          <p:cNvPr id="2" name="Audio 1">
            <a:hlinkClick r:id="" action="ppaction://media"/>
            <a:extLst>
              <a:ext uri="{FF2B5EF4-FFF2-40B4-BE49-F238E27FC236}">
                <a16:creationId xmlns:a16="http://schemas.microsoft.com/office/drawing/2014/main" id="{01C83EC5-1508-6D36-D281-DB56F4540766}"/>
              </a:ext>
            </a:extLst>
          </p:cNvPr>
          <p:cNvPicPr>
            <a:picLocks noChangeAspect="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28145"/>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25" objId="2"/>
        <p14:stopEvt time="26877" objId="2"/>
      </p14:showEvt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FEBBC9EA-0C30-78F6-721A-FAA834FD5F6A}"/>
              </a:ext>
            </a:extLst>
          </p:cNvPr>
          <p:cNvSpPr>
            <a:spLocks noGrp="1"/>
          </p:cNvSpPr>
          <p:nvPr>
            <p:ph sz="quarter" idx="10"/>
          </p:nvPr>
        </p:nvSpPr>
        <p:spPr/>
        <p:txBody>
          <a:bodyPr/>
          <a:lstStyle/>
          <a:p>
            <a:pPr marL="0" indent="0">
              <a:defRPr/>
            </a:pPr>
            <a:endParaRPr lang="de-DE" altLang="de-DE" sz="2000" dirty="0">
              <a:latin typeface="Arial" panose="020B0604020202020204" pitchFamily="34" charset="0"/>
              <a:cs typeface="Arial" panose="020B0604020202020204" pitchFamily="34" charset="0"/>
            </a:endParaRPr>
          </a:p>
          <a:p>
            <a:pPr marL="0" indent="0">
              <a:buNone/>
              <a:defRPr/>
            </a:pPr>
            <a:r>
              <a:rPr lang="de-DE" altLang="de-DE" sz="2000" dirty="0">
                <a:latin typeface="Arial" panose="020B0604020202020204" pitchFamily="34" charset="0"/>
                <a:cs typeface="Arial" panose="020B0604020202020204" pitchFamily="34" charset="0"/>
              </a:rPr>
              <a:t>für Nahaufnahmen (Portrait und Befund)</a:t>
            </a:r>
          </a:p>
          <a:p>
            <a:pPr marL="0" indent="0">
              <a:defRPr/>
            </a:pPr>
            <a:endParaRPr lang="de-DE" altLang="de-DE" b="1" dirty="0">
              <a:latin typeface="Arial" panose="020B0604020202020204" pitchFamily="34" charset="0"/>
              <a:cs typeface="Arial" panose="020B0604020202020204" pitchFamily="34" charset="0"/>
              <a:sym typeface="Wingdings" pitchFamily="2" charset="2"/>
            </a:endParaRPr>
          </a:p>
          <a:p>
            <a:pPr marL="457200" indent="-457200">
              <a:buFont typeface="Wingdings" pitchFamily="2" charset="2"/>
              <a:buChar char="à"/>
              <a:defRPr/>
            </a:pPr>
            <a:r>
              <a:rPr lang="de-DE" altLang="de-DE" sz="3600" b="1" dirty="0">
                <a:latin typeface="Arial" panose="020B0604020202020204" pitchFamily="34" charset="0"/>
                <a:cs typeface="Arial" panose="020B0604020202020204" pitchFamily="34" charset="0"/>
                <a:sym typeface="Wingdings" pitchFamily="2" charset="2"/>
              </a:rPr>
              <a:t>Abstand</a:t>
            </a:r>
            <a:r>
              <a:rPr lang="de-DE" altLang="de-DE" sz="3000" b="1" dirty="0">
                <a:latin typeface="Arial" panose="020B0604020202020204" pitchFamily="34" charset="0"/>
                <a:cs typeface="Arial" panose="020B0604020202020204" pitchFamily="34" charset="0"/>
                <a:sym typeface="Wingdings" pitchFamily="2" charset="2"/>
              </a:rPr>
              <a:t> </a:t>
            </a:r>
            <a:r>
              <a:rPr lang="de-DE" altLang="de-DE" sz="2000" dirty="0">
                <a:latin typeface="Arial" panose="020B0604020202020204" pitchFamily="34" charset="0"/>
                <a:cs typeface="Arial" panose="020B0604020202020204" pitchFamily="34" charset="0"/>
                <a:sym typeface="Wingdings" pitchFamily="2" charset="2"/>
              </a:rPr>
              <a:t>halten</a:t>
            </a:r>
          </a:p>
          <a:p>
            <a:pPr marL="457200" indent="-457200">
              <a:buFont typeface="Wingdings" pitchFamily="2" charset="2"/>
              <a:buChar char="à"/>
              <a:defRPr/>
            </a:pPr>
            <a:r>
              <a:rPr lang="de-DE" altLang="de-DE" sz="4000" b="1" dirty="0">
                <a:latin typeface="Arial" panose="020B0604020202020204" pitchFamily="34" charset="0"/>
                <a:cs typeface="Arial" panose="020B0604020202020204" pitchFamily="34" charset="0"/>
              </a:rPr>
              <a:t>Tele</a:t>
            </a:r>
            <a:r>
              <a:rPr lang="de-DE" altLang="de-DE" sz="4000" dirty="0">
                <a:latin typeface="Arial" panose="020B0604020202020204" pitchFamily="34" charset="0"/>
                <a:cs typeface="Arial" panose="020B0604020202020204" pitchFamily="34" charset="0"/>
              </a:rPr>
              <a:t>brennweite</a:t>
            </a:r>
            <a:r>
              <a:rPr lang="de-DE" altLang="de-DE" sz="3000" dirty="0">
                <a:latin typeface="Arial" panose="020B0604020202020204" pitchFamily="34" charset="0"/>
                <a:cs typeface="Arial" panose="020B0604020202020204" pitchFamily="34" charset="0"/>
              </a:rPr>
              <a:t> </a:t>
            </a:r>
            <a:r>
              <a:rPr lang="de-DE" altLang="de-DE" sz="2000" dirty="0">
                <a:latin typeface="Arial" panose="020B0604020202020204" pitchFamily="34" charset="0"/>
                <a:cs typeface="Arial" panose="020B0604020202020204" pitchFamily="34" charset="0"/>
              </a:rPr>
              <a:t>(hohe Zahl)</a:t>
            </a:r>
          </a:p>
          <a:p>
            <a:pPr marL="0" indent="0">
              <a:buNone/>
              <a:defRPr/>
            </a:pPr>
            <a:r>
              <a:rPr lang="de-DE" altLang="de-DE" sz="3000" dirty="0">
                <a:latin typeface="Arial" panose="020B0604020202020204" pitchFamily="34" charset="0"/>
                <a:cs typeface="Arial" panose="020B0604020202020204" pitchFamily="34" charset="0"/>
                <a:sym typeface="Wingdings" pitchFamily="2" charset="2"/>
              </a:rPr>
              <a:t>				</a:t>
            </a:r>
            <a:r>
              <a:rPr lang="de-DE" altLang="de-DE" sz="2000" dirty="0">
                <a:latin typeface="Arial" panose="020B0604020202020204" pitchFamily="34" charset="0"/>
                <a:cs typeface="Arial" panose="020B0604020202020204" pitchFamily="34" charset="0"/>
                <a:sym typeface="Wingdings" pitchFamily="2" charset="2"/>
              </a:rPr>
              <a:t></a:t>
            </a:r>
            <a:r>
              <a:rPr lang="de-DE" altLang="de-DE" sz="2000" b="1" dirty="0">
                <a:latin typeface="Arial" panose="020B0604020202020204" pitchFamily="34" charset="0"/>
                <a:cs typeface="Arial" panose="020B0604020202020204" pitchFamily="34" charset="0"/>
                <a:sym typeface="Wingdings" pitchFamily="2" charset="2"/>
              </a:rPr>
              <a:t> NIE </a:t>
            </a:r>
            <a:r>
              <a:rPr lang="de-DE" altLang="de-DE" sz="2000" b="1" dirty="0">
                <a:latin typeface="Arial" panose="020B0604020202020204" pitchFamily="34" charset="0"/>
                <a:cs typeface="Arial" panose="020B0604020202020204" pitchFamily="34" charset="0"/>
              </a:rPr>
              <a:t>Weitwinkel</a:t>
            </a:r>
            <a:r>
              <a:rPr lang="de-DE" altLang="de-DE" sz="2000" dirty="0">
                <a:latin typeface="Arial" panose="020B0604020202020204" pitchFamily="34" charset="0"/>
                <a:cs typeface="Arial" panose="020B0604020202020204" pitchFamily="34" charset="0"/>
              </a:rPr>
              <a:t>brennweite (tiefe Zahl)</a:t>
            </a:r>
          </a:p>
          <a:p>
            <a:pPr marL="0" indent="0">
              <a:defRPr/>
            </a:pPr>
            <a:endParaRPr lang="de-DE" altLang="de-DE" sz="2000" dirty="0">
              <a:latin typeface="Arial" panose="020B0604020202020204" pitchFamily="34" charset="0"/>
              <a:cs typeface="Arial" panose="020B0604020202020204" pitchFamily="34" charset="0"/>
            </a:endParaRPr>
          </a:p>
          <a:p>
            <a:pPr marL="0" indent="0">
              <a:buNone/>
              <a:defRPr/>
            </a:pPr>
            <a:r>
              <a:rPr lang="de-DE" altLang="de-DE" sz="2600" dirty="0">
                <a:latin typeface="Arial" panose="020B0604020202020204" pitchFamily="34" charset="0"/>
                <a:cs typeface="Arial" panose="020B0604020202020204" pitchFamily="34" charset="0"/>
                <a:sym typeface="Wingdings" pitchFamily="2" charset="2"/>
              </a:rPr>
              <a:t> Auf Augenpartie scharf stellen (fokussieren)</a:t>
            </a:r>
            <a:endParaRPr lang="de-DE" altLang="de-DE" sz="2600" dirty="0">
              <a:latin typeface="Arial" panose="020B0604020202020204" pitchFamily="34" charset="0"/>
              <a:cs typeface="Arial" panose="020B0604020202020204" pitchFamily="34" charset="0"/>
            </a:endParaRPr>
          </a:p>
          <a:p>
            <a:pPr>
              <a:defRPr/>
            </a:pPr>
            <a:endParaRPr lang="de-DE" dirty="0"/>
          </a:p>
        </p:txBody>
      </p:sp>
      <p:sp>
        <p:nvSpPr>
          <p:cNvPr id="5" name="Titel 2">
            <a:extLst>
              <a:ext uri="{FF2B5EF4-FFF2-40B4-BE49-F238E27FC236}">
                <a16:creationId xmlns:a16="http://schemas.microsoft.com/office/drawing/2014/main" id="{16F04B1D-4657-8129-AE8D-A5BED85A4983}"/>
              </a:ext>
            </a:extLst>
          </p:cNvPr>
          <p:cNvSpPr>
            <a:spLocks noGrp="1"/>
          </p:cNvSpPr>
          <p:nvPr>
            <p:ph type="title"/>
          </p:nvPr>
        </p:nvSpPr>
        <p:spPr>
          <a:xfrm>
            <a:off x="838200" y="365125"/>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0030"/>
    </mc:Choice>
    <mc:Fallback xmlns="">
      <p:transition spd="slow" advTm="1003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E1031BF-48E6-1DF9-BFF2-B8B67289CC33}"/>
              </a:ext>
            </a:extLst>
          </p:cNvPr>
          <p:cNvSpPr>
            <a:spLocks noGrp="1"/>
          </p:cNvSpPr>
          <p:nvPr>
            <p:ph type="title"/>
          </p:nvPr>
        </p:nvSpPr>
        <p:spPr>
          <a:xfrm>
            <a:off x="2135189" y="108902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Licht und Schatten</a:t>
            </a:r>
          </a:p>
        </p:txBody>
      </p:sp>
      <p:pic>
        <p:nvPicPr>
          <p:cNvPr id="74754" name="Grafik 4">
            <a:extLst>
              <a:ext uri="{FF2B5EF4-FFF2-40B4-BE49-F238E27FC236}">
                <a16:creationId xmlns:a16="http://schemas.microsoft.com/office/drawing/2014/main" id="{A212CC2E-6D9C-AB11-48FE-0302A501FBEA}"/>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40014" y="1808164"/>
            <a:ext cx="7127875"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Audio 3">
            <a:hlinkClick r:id="" action="ppaction://media"/>
            <a:extLst>
              <a:ext uri="{FF2B5EF4-FFF2-40B4-BE49-F238E27FC236}">
                <a16:creationId xmlns:a16="http://schemas.microsoft.com/office/drawing/2014/main" id="{F5423AD4-5BD8-6D98-77CC-29B1EE0CA186}"/>
              </a:ext>
            </a:extLst>
          </p:cNvPr>
          <p:cNvPicPr>
            <a:picLocks noChangeAspect="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912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
                </p:tgtEl>
              </p:cMediaNode>
            </p:audio>
          </p:childTnLst>
        </p:cTn>
      </p:par>
    </p:tnLst>
  </p:timing>
  <p:extLst>
    <p:ext uri="{E180D4A7-C9FB-4DFB-919C-405C955672EB}">
      <p14:showEvtLst xmlns:p14="http://schemas.microsoft.com/office/powerpoint/2010/main">
        <p14:playEvt time="27" objId="4"/>
        <p14:stopEvt time="18149" objId="4"/>
      </p14:showEvt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9912374-23F8-70B1-FBBA-B83B181C4E71}"/>
              </a:ext>
            </a:extLst>
          </p:cNvPr>
          <p:cNvSpPr>
            <a:spLocks noGrp="1"/>
          </p:cNvSpPr>
          <p:nvPr>
            <p:ph type="title"/>
          </p:nvPr>
        </p:nvSpPr>
        <p:spPr>
          <a:xfrm>
            <a:off x="2135189" y="1268414"/>
            <a:ext cx="8137525" cy="608774"/>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Gegenlicht</a:t>
            </a:r>
          </a:p>
        </p:txBody>
      </p:sp>
      <p:pic>
        <p:nvPicPr>
          <p:cNvPr id="76802" name="Grafik 1">
            <a:extLst>
              <a:ext uri="{FF2B5EF4-FFF2-40B4-BE49-F238E27FC236}">
                <a16:creationId xmlns:a16="http://schemas.microsoft.com/office/drawing/2014/main" id="{48076758-F4D6-6462-9694-84A0CD1F3052}"/>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100264" y="2492376"/>
            <a:ext cx="4035425"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3" name="Grafik 3">
            <a:extLst>
              <a:ext uri="{FF2B5EF4-FFF2-40B4-BE49-F238E27FC236}">
                <a16:creationId xmlns:a16="http://schemas.microsoft.com/office/drawing/2014/main" id="{E049D883-6A85-5B2C-6BAE-652A096A119D}"/>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272213" y="2492376"/>
            <a:ext cx="4037012"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Audio 1">
            <a:hlinkClick r:id="" action="ppaction://media"/>
            <a:extLst>
              <a:ext uri="{FF2B5EF4-FFF2-40B4-BE49-F238E27FC236}">
                <a16:creationId xmlns:a16="http://schemas.microsoft.com/office/drawing/2014/main" id="{C69403B5-2F1E-0C86-D37B-4AA0B881F3EB}"/>
              </a:ext>
            </a:extLst>
          </p:cNvPr>
          <p:cNvPicPr>
            <a:picLocks noChangeAspect="1"/>
          </p:cNvPicPr>
          <p:nvPr>
            <a:audioFile r:link="rId3"/>
            <p:extLst>
              <p:ext uri="{DAA4B4D4-6D71-4841-9C94-3DE7FCFB9230}">
                <p14:media xmlns:p14="http://schemas.microsoft.com/office/powerpoint/2010/main" r:embed="rId2"/>
              </p:ext>
            </p:extLst>
          </p:nvPr>
        </p:nvPicPr>
        <p:blipFill>
          <a:blip r:embed="rId8">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feld 5">
            <a:extLst>
              <a:ext uri="{FF2B5EF4-FFF2-40B4-BE49-F238E27FC236}">
                <a16:creationId xmlns:a16="http://schemas.microsoft.com/office/drawing/2014/main" id="{797BB73B-CE85-0605-D536-B2C06FFF523A}"/>
              </a:ext>
            </a:extLst>
          </p:cNvPr>
          <p:cNvSpPr txBox="1"/>
          <p:nvPr/>
        </p:nvSpPr>
        <p:spPr>
          <a:xfrm>
            <a:off x="2207568" y="5472212"/>
            <a:ext cx="3528392"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Negatives Beispiel:	</a:t>
            </a:r>
            <a:r>
              <a:rPr lang="de-DE" sz="1400" u="sng" dirty="0">
                <a:latin typeface="Arial" panose="020B0604020202020204" pitchFamily="34" charset="0"/>
                <a:cs typeface="Arial" panose="020B0604020202020204" pitchFamily="34" charset="0"/>
              </a:rPr>
              <a:t>ohne</a:t>
            </a:r>
            <a:r>
              <a:rPr lang="de-DE" sz="1400" dirty="0">
                <a:latin typeface="Arial" panose="020B0604020202020204" pitchFamily="34" charset="0"/>
                <a:cs typeface="Arial" panose="020B0604020202020204" pitchFamily="34" charset="0"/>
              </a:rPr>
              <a:t> Blitz</a:t>
            </a:r>
          </a:p>
        </p:txBody>
      </p:sp>
      <p:sp>
        <p:nvSpPr>
          <p:cNvPr id="7" name="Textfeld 6">
            <a:extLst>
              <a:ext uri="{FF2B5EF4-FFF2-40B4-BE49-F238E27FC236}">
                <a16:creationId xmlns:a16="http://schemas.microsoft.com/office/drawing/2014/main" id="{C8E8D811-7A5C-75B4-E4A7-456A64198266}"/>
              </a:ext>
            </a:extLst>
          </p:cNvPr>
          <p:cNvSpPr txBox="1"/>
          <p:nvPr/>
        </p:nvSpPr>
        <p:spPr>
          <a:xfrm>
            <a:off x="6526523" y="5472212"/>
            <a:ext cx="3528392"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Positives Beispiel:	mit Blitz</a:t>
            </a:r>
          </a:p>
        </p:txBody>
      </p:sp>
      <p:sp>
        <p:nvSpPr>
          <p:cNvPr id="9" name="Smiley 8">
            <a:extLst>
              <a:ext uri="{FF2B5EF4-FFF2-40B4-BE49-F238E27FC236}">
                <a16:creationId xmlns:a16="http://schemas.microsoft.com/office/drawing/2014/main" id="{4E8207CC-13EA-F7BF-96C2-7B5F152523DD}"/>
              </a:ext>
            </a:extLst>
          </p:cNvPr>
          <p:cNvSpPr/>
          <p:nvPr/>
        </p:nvSpPr>
        <p:spPr>
          <a:xfrm>
            <a:off x="9624702" y="4988394"/>
            <a:ext cx="719460" cy="799177"/>
          </a:xfrm>
          <a:prstGeom prst="smileyFace">
            <a:avLst/>
          </a:prstGeom>
          <a:solidFill>
            <a:srgbClr val="92D05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p>
        </p:txBody>
      </p:sp>
      <p:sp>
        <p:nvSpPr>
          <p:cNvPr id="10" name="&quot;Nein&quot;-Symbol 9">
            <a:extLst>
              <a:ext uri="{FF2B5EF4-FFF2-40B4-BE49-F238E27FC236}">
                <a16:creationId xmlns:a16="http://schemas.microsoft.com/office/drawing/2014/main" id="{B26640C5-72D7-995A-C80B-196C8F978B3B}"/>
              </a:ext>
            </a:extLst>
          </p:cNvPr>
          <p:cNvSpPr/>
          <p:nvPr/>
        </p:nvSpPr>
        <p:spPr>
          <a:xfrm>
            <a:off x="5421506" y="4980812"/>
            <a:ext cx="739643" cy="799177"/>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de-CH">
              <a:solidFill>
                <a:schemeClr val="tx1"/>
              </a:solidFill>
            </a:endParaRPr>
          </a:p>
        </p:txBody>
      </p:sp>
    </p:spTree>
    <p:custDataLst>
      <p:tags r:id="rId1"/>
    </p:custDataLst>
  </p:cSld>
  <p:clrMapOvr>
    <a:masterClrMapping/>
  </p:clrMapOvr>
  <p:transition spd="slow" advTm="1170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1" fill="hold" display="0">
                  <p:stCondLst>
                    <p:cond delay="indefinite"/>
                  </p:stCondLst>
                  <p:endCondLst>
                    <p:cond evt="onStopAudio" delay="0">
                      <p:tgtEl>
                        <p:sldTgt/>
                      </p:tgtEl>
                    </p:cond>
                  </p:endCondLst>
                </p:cTn>
                <p:tgtEl>
                  <p:spTgt spid="2"/>
                </p:tgtEl>
              </p:cMediaNode>
            </p:audio>
          </p:childTnLst>
        </p:cTn>
      </p:par>
    </p:tnLst>
    <p:bldLst>
      <p:bldP spid="9" grpId="0" animBg="1"/>
    </p:bldLst>
  </p:timing>
  <p:extLst>
    <p:ext uri="{E180D4A7-C9FB-4DFB-919C-405C955672EB}">
      <p14:showEvtLst xmlns:p14="http://schemas.microsoft.com/office/powerpoint/2010/main">
        <p14:playEvt time="20" objId="2"/>
        <p14:stopEvt time="9159" objId="2"/>
      </p14:showEvtLst>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Inhaltsplatzhalter 1">
            <a:extLst>
              <a:ext uri="{FF2B5EF4-FFF2-40B4-BE49-F238E27FC236}">
                <a16:creationId xmlns:a16="http://schemas.microsoft.com/office/drawing/2014/main" id="{B4BF7B69-B8BC-40BD-51B4-F7C2BF13087E}"/>
              </a:ext>
            </a:extLst>
          </p:cNvPr>
          <p:cNvSpPr>
            <a:spLocks noGrp="1"/>
          </p:cNvSpPr>
          <p:nvPr>
            <p:ph sz="quarter" idx="10"/>
          </p:nvPr>
        </p:nvSpPr>
        <p:spPr/>
        <p:txBody>
          <a:bodyPr/>
          <a:lstStyle/>
          <a:p>
            <a:pPr marL="0" indent="0">
              <a:buNone/>
            </a:pPr>
            <a:r>
              <a:rPr lang="de-DE" altLang="de-DE" sz="10000" dirty="0">
                <a:latin typeface="Arial" panose="020B0604020202020204" pitchFamily="34" charset="0"/>
                <a:cs typeface="Arial" panose="020B0604020202020204" pitchFamily="34" charset="0"/>
              </a:rPr>
              <a:t>Blitz</a:t>
            </a:r>
            <a:r>
              <a:rPr lang="de-DE" altLang="de-DE" sz="8000" dirty="0">
                <a:latin typeface="Arial" panose="020B0604020202020204" pitchFamily="34" charset="0"/>
                <a:cs typeface="Arial" panose="020B0604020202020204" pitchFamily="34" charset="0"/>
              </a:rPr>
              <a:t> </a:t>
            </a:r>
            <a:r>
              <a:rPr lang="de-DE" altLang="de-DE" sz="4000" dirty="0">
                <a:latin typeface="Arial" panose="020B0604020202020204" pitchFamily="34" charset="0"/>
                <a:cs typeface="Arial" panose="020B0604020202020204" pitchFamily="34" charset="0"/>
              </a:rPr>
              <a:t>zuschalten</a:t>
            </a:r>
          </a:p>
        </p:txBody>
      </p:sp>
      <p:sp>
        <p:nvSpPr>
          <p:cNvPr id="4" name="Titel 2">
            <a:extLst>
              <a:ext uri="{FF2B5EF4-FFF2-40B4-BE49-F238E27FC236}">
                <a16:creationId xmlns:a16="http://schemas.microsoft.com/office/drawing/2014/main" id="{ADACDE52-3492-97FF-4147-FC27B9BDCC24}"/>
              </a:ext>
            </a:extLst>
          </p:cNvPr>
          <p:cNvSpPr>
            <a:spLocks noGrp="1"/>
          </p:cNvSpPr>
          <p:nvPr>
            <p:ph type="title"/>
          </p:nvPr>
        </p:nvSpPr>
        <p:spPr>
          <a:xfrm>
            <a:off x="838200" y="365125"/>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197"/>
    </mc:Choice>
    <mc:Fallback xmlns="">
      <p:transition spd="slow" advTm="319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F9D29E7-AD79-C9E1-F36F-030A3B66C62C}"/>
              </a:ext>
            </a:extLst>
          </p:cNvPr>
          <p:cNvSpPr>
            <a:spLocks noGrp="1"/>
          </p:cNvSpPr>
          <p:nvPr>
            <p:ph type="title"/>
          </p:nvPr>
        </p:nvSpPr>
        <p:spPr>
          <a:xfrm>
            <a:off x="2135189" y="1089025"/>
            <a:ext cx="8137525" cy="369888"/>
          </a:xfrm>
        </p:spPr>
        <p:txBody>
          <a:bodyPr>
            <a:noAutofit/>
          </a:bodyPr>
          <a:lstStyle/>
          <a:p>
            <a:pPr algn="ctr">
              <a:defRPr/>
            </a:pPr>
            <a:r>
              <a:rPr lang="de-CH" sz="2800" b="1" dirty="0">
                <a:solidFill>
                  <a:schemeClr val="tx1">
                    <a:lumMod val="85000"/>
                    <a:lumOff val="15000"/>
                  </a:schemeClr>
                </a:solidFill>
                <a:latin typeface="Arial" panose="020B0604020202020204" pitchFamily="34" charset="0"/>
                <a:cs typeface="Arial" panose="020B0604020202020204" pitchFamily="34" charset="0"/>
              </a:rPr>
              <a:t>Fehlfokussierung</a:t>
            </a:r>
          </a:p>
        </p:txBody>
      </p:sp>
      <p:pic>
        <p:nvPicPr>
          <p:cNvPr id="84994" name="Grafik 3">
            <a:extLst>
              <a:ext uri="{FF2B5EF4-FFF2-40B4-BE49-F238E27FC236}">
                <a16:creationId xmlns:a16="http://schemas.microsoft.com/office/drawing/2014/main" id="{3E331115-1630-5A17-6E5F-D873A4C2E7F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40014" y="1736725"/>
            <a:ext cx="7127875"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Audio 1">
            <a:hlinkClick r:id="" action="ppaction://media"/>
            <a:extLst>
              <a:ext uri="{FF2B5EF4-FFF2-40B4-BE49-F238E27FC236}">
                <a16:creationId xmlns:a16="http://schemas.microsoft.com/office/drawing/2014/main" id="{F06D7392-8710-7ED4-82F8-2792F0F02827}"/>
              </a:ext>
            </a:extLst>
          </p:cNvPr>
          <p:cNvPicPr>
            <a:picLocks noChangeAspect="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9879013" y="6069013"/>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ing 7">
            <a:extLst>
              <a:ext uri="{FF2B5EF4-FFF2-40B4-BE49-F238E27FC236}">
                <a16:creationId xmlns:a16="http://schemas.microsoft.com/office/drawing/2014/main" id="{80AA48AD-D011-16C0-82D3-9E30EFD603B6}"/>
              </a:ext>
            </a:extLst>
          </p:cNvPr>
          <p:cNvSpPr/>
          <p:nvPr/>
        </p:nvSpPr>
        <p:spPr>
          <a:xfrm>
            <a:off x="7104112" y="2564904"/>
            <a:ext cx="2268253" cy="2520280"/>
          </a:xfrm>
          <a:prstGeom prst="donut">
            <a:avLst>
              <a:gd name="adj" fmla="val 3008"/>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cxnSp>
        <p:nvCxnSpPr>
          <p:cNvPr id="11" name="Gerade Verbindung mit Pfeil 10">
            <a:extLst>
              <a:ext uri="{FF2B5EF4-FFF2-40B4-BE49-F238E27FC236}">
                <a16:creationId xmlns:a16="http://schemas.microsoft.com/office/drawing/2014/main" id="{BED9BFFA-E27B-4C98-90E4-203C86C36299}"/>
              </a:ext>
            </a:extLst>
          </p:cNvPr>
          <p:cNvCxnSpPr>
            <a:stCxn id="8" idx="2"/>
          </p:cNvCxnSpPr>
          <p:nvPr/>
        </p:nvCxnSpPr>
        <p:spPr>
          <a:xfrm flipH="1">
            <a:off x="6348027" y="3825044"/>
            <a:ext cx="792000" cy="0"/>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2" name="Textfeld 11">
            <a:extLst>
              <a:ext uri="{FF2B5EF4-FFF2-40B4-BE49-F238E27FC236}">
                <a16:creationId xmlns:a16="http://schemas.microsoft.com/office/drawing/2014/main" id="{492A98FB-C5A8-076B-970A-E120D1A6FCE2}"/>
              </a:ext>
            </a:extLst>
          </p:cNvPr>
          <p:cNvSpPr txBox="1"/>
          <p:nvPr/>
        </p:nvSpPr>
        <p:spPr>
          <a:xfrm>
            <a:off x="7824192" y="2195572"/>
            <a:ext cx="864096" cy="369332"/>
          </a:xfrm>
          <a:prstGeom prst="rect">
            <a:avLst/>
          </a:prstGeom>
          <a:solidFill>
            <a:schemeClr val="bg1">
              <a:lumMod val="75000"/>
            </a:schemeClr>
          </a:solidFill>
        </p:spPr>
        <p:txBody>
          <a:bodyPr wrap="square" rtlCol="0">
            <a:spAutoFit/>
          </a:bodyPr>
          <a:lstStyle/>
          <a:p>
            <a:r>
              <a:rPr lang="de-DE" dirty="0"/>
              <a:t>scharf</a:t>
            </a:r>
          </a:p>
        </p:txBody>
      </p:sp>
      <p:sp>
        <p:nvSpPr>
          <p:cNvPr id="14" name="Textfeld 13">
            <a:extLst>
              <a:ext uri="{FF2B5EF4-FFF2-40B4-BE49-F238E27FC236}">
                <a16:creationId xmlns:a16="http://schemas.microsoft.com/office/drawing/2014/main" id="{DF81CC38-C2F3-8E5B-46B9-6401F958AC9F}"/>
              </a:ext>
            </a:extLst>
          </p:cNvPr>
          <p:cNvSpPr txBox="1"/>
          <p:nvPr/>
        </p:nvSpPr>
        <p:spPr>
          <a:xfrm>
            <a:off x="5485832" y="2214392"/>
            <a:ext cx="1150228" cy="369332"/>
          </a:xfrm>
          <a:prstGeom prst="rect">
            <a:avLst/>
          </a:prstGeom>
          <a:solidFill>
            <a:schemeClr val="bg1">
              <a:lumMod val="75000"/>
            </a:schemeClr>
          </a:solidFill>
        </p:spPr>
        <p:txBody>
          <a:bodyPr wrap="square" rtlCol="0">
            <a:spAutoFit/>
          </a:bodyPr>
          <a:lstStyle/>
          <a:p>
            <a:r>
              <a:rPr lang="de-DE" dirty="0"/>
              <a:t>unscharf</a:t>
            </a:r>
          </a:p>
        </p:txBody>
      </p:sp>
    </p:spTree>
  </p:cSld>
  <p:clrMapOvr>
    <a:masterClrMapping/>
  </p:clrMapOvr>
  <p:transition spd="slow" advTm="2206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25" objId="2"/>
        <p14:stopEvt time="21173" objId="2"/>
      </p14:showEvt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006458AA-7A8F-14D8-2EE3-15EBD71D41FB}"/>
              </a:ext>
            </a:extLst>
          </p:cNvPr>
          <p:cNvSpPr>
            <a:spLocks noGrp="1"/>
          </p:cNvSpPr>
          <p:nvPr>
            <p:ph sz="quarter" idx="10"/>
          </p:nvPr>
        </p:nvSpPr>
        <p:spPr/>
        <p:txBody>
          <a:bodyPr/>
          <a:lstStyle/>
          <a:p>
            <a:endParaRPr lang="de-DE" sz="2600" dirty="0">
              <a:latin typeface="Arial" panose="020B0604020202020204" pitchFamily="34" charset="0"/>
              <a:cs typeface="Arial" panose="020B0604020202020204" pitchFamily="34" charset="0"/>
            </a:endParaRPr>
          </a:p>
          <a:p>
            <a:pPr marL="0" indent="0">
              <a:buNone/>
            </a:pPr>
            <a:r>
              <a:rPr lang="de-DE" sz="2600" b="1" dirty="0">
                <a:latin typeface="Arial" panose="020B0604020202020204" pitchFamily="34" charset="0"/>
                <a:cs typeface="Arial" panose="020B0604020202020204" pitchFamily="34" charset="0"/>
              </a:rPr>
              <a:t>Fokuspunkt</a:t>
            </a:r>
            <a:r>
              <a:rPr lang="de-DE" sz="2600" dirty="0">
                <a:latin typeface="Arial" panose="020B0604020202020204" pitchFamily="34" charset="0"/>
                <a:cs typeface="Arial" panose="020B0604020202020204" pitchFamily="34" charset="0"/>
              </a:rPr>
              <a:t> überprüfen</a:t>
            </a:r>
          </a:p>
          <a:p>
            <a:endParaRPr lang="de-DE" dirty="0">
              <a:latin typeface="Arial" panose="020B0604020202020204" pitchFamily="34" charset="0"/>
              <a:cs typeface="Arial" panose="020B0604020202020204" pitchFamily="34" charset="0"/>
            </a:endParaRPr>
          </a:p>
          <a:p>
            <a:pPr marL="0" indent="0">
              <a:buNone/>
            </a:pPr>
            <a:r>
              <a:rPr lang="de-DE" sz="1800" dirty="0">
                <a:latin typeface="Arial" panose="020B0604020202020204" pitchFamily="34" charset="0"/>
                <a:cs typeface="Arial" panose="020B0604020202020204" pitchFamily="34" charset="0"/>
              </a:rPr>
              <a:t>Habe ich auf Motiv von Interesse scharf gestellt</a:t>
            </a:r>
          </a:p>
          <a:p>
            <a:pPr marL="0" indent="0">
              <a:buNone/>
            </a:pPr>
            <a:r>
              <a:rPr lang="de-DE" sz="1800" dirty="0">
                <a:latin typeface="Arial" panose="020B0604020202020204" pitchFamily="34" charset="0"/>
                <a:cs typeface="Arial" panose="020B0604020202020204" pitchFamily="34" charset="0"/>
              </a:rPr>
              <a:t>oder bin ich auf einem anderen Objekt, in anderer Ebene?</a:t>
            </a:r>
          </a:p>
        </p:txBody>
      </p:sp>
      <p:sp>
        <p:nvSpPr>
          <p:cNvPr id="6" name="Titel 2">
            <a:extLst>
              <a:ext uri="{FF2B5EF4-FFF2-40B4-BE49-F238E27FC236}">
                <a16:creationId xmlns:a16="http://schemas.microsoft.com/office/drawing/2014/main" id="{046BD011-3A65-4594-5FF3-EF7968AC49B3}"/>
              </a:ext>
            </a:extLst>
          </p:cNvPr>
          <p:cNvSpPr>
            <a:spLocks noGrp="1"/>
          </p:cNvSpPr>
          <p:nvPr>
            <p:ph type="title"/>
          </p:nvPr>
        </p:nvSpPr>
        <p:spPr>
          <a:xfrm>
            <a:off x="814918" y="732678"/>
            <a:ext cx="10515600" cy="1325563"/>
          </a:xfrm>
        </p:spPr>
        <p:txBody>
          <a:bodyPr/>
          <a:lstStyle/>
          <a:p>
            <a:r>
              <a:rPr lang="de-DE" altLang="de-DE" sz="3600" b="1" dirty="0">
                <a:solidFill>
                  <a:srgbClr val="FF0000"/>
                </a:solidFill>
                <a:latin typeface="Arial" panose="020B0604020202020204" pitchFamily="34" charset="0"/>
                <a:cs typeface="Arial" panose="020B0604020202020204" pitchFamily="34" charset="0"/>
              </a:rPr>
              <a:t>Merke:</a:t>
            </a:r>
            <a:endParaRPr lang="de-DE" altLang="de-DE"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5442017"/>
      </p:ext>
    </p:extLst>
  </p:cSld>
  <p:clrMapOvr>
    <a:masterClrMapping/>
  </p:clrMapOvr>
  <mc:AlternateContent xmlns:mc="http://schemas.openxmlformats.org/markup-compatibility/2006" xmlns:p14="http://schemas.microsoft.com/office/powerpoint/2010/main">
    <mc:Choice Requires="p14">
      <p:transition spd="slow" p14:dur="2000" advTm="6741"/>
    </mc:Choice>
    <mc:Fallback xmlns="">
      <p:transition spd="slow" advTm="674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Inhaltsplatzhalter 1">
            <a:extLst>
              <a:ext uri="{FF2B5EF4-FFF2-40B4-BE49-F238E27FC236}">
                <a16:creationId xmlns:a16="http://schemas.microsoft.com/office/drawing/2014/main" id="{7810CB88-6734-4241-C703-D95029B9CE2E}"/>
              </a:ext>
            </a:extLst>
          </p:cNvPr>
          <p:cNvSpPr>
            <a:spLocks noGrp="1"/>
          </p:cNvSpPr>
          <p:nvPr>
            <p:ph sz="quarter" idx="10"/>
          </p:nvPr>
        </p:nvSpPr>
        <p:spPr>
          <a:xfrm>
            <a:off x="2135189" y="2205038"/>
            <a:ext cx="8137525" cy="4248150"/>
          </a:xfrm>
        </p:spPr>
        <p:txBody>
          <a:bodyPr>
            <a:normAutofit/>
          </a:bodyPr>
          <a:lstStyle/>
          <a:p>
            <a:pPr marL="285750" indent="-285750">
              <a:buFontTx/>
              <a:buChar char="-"/>
              <a:defRPr/>
            </a:pPr>
            <a:r>
              <a:rPr lang="de-CH" altLang="de-DE" sz="1900" b="1" dirty="0">
                <a:latin typeface="Arial" panose="020B0604020202020204" pitchFamily="34" charset="0"/>
                <a:cs typeface="Arial" panose="020B0604020202020204" pitchFamily="34" charset="0"/>
              </a:rPr>
              <a:t>Lotrechte</a:t>
            </a:r>
            <a:r>
              <a:rPr lang="de-CH" altLang="de-DE" sz="1900" dirty="0">
                <a:latin typeface="Arial" panose="020B0604020202020204" pitchFamily="34" charset="0"/>
                <a:cs typeface="Arial" panose="020B0604020202020204" pitchFamily="34" charset="0"/>
              </a:rPr>
              <a:t> (senkrechte) Kameraposition zum Befund </a:t>
            </a:r>
          </a:p>
          <a:p>
            <a:pPr marL="285750" indent="-285750">
              <a:buFontTx/>
              <a:buChar char="-"/>
              <a:defRPr/>
            </a:pPr>
            <a:r>
              <a:rPr lang="de-CH" altLang="de-DE" sz="1900" b="1" dirty="0">
                <a:latin typeface="Arial" panose="020B0604020202020204" pitchFamily="34" charset="0"/>
                <a:cs typeface="Arial" panose="020B0604020202020204" pitchFamily="34" charset="0"/>
              </a:rPr>
              <a:t>Blitz </a:t>
            </a:r>
            <a:r>
              <a:rPr lang="de-CH" altLang="de-DE" sz="1900" dirty="0">
                <a:latin typeface="Arial" panose="020B0604020202020204" pitchFamily="34" charset="0"/>
                <a:cs typeface="Arial" panose="020B0604020202020204" pitchFamily="34" charset="0"/>
              </a:rPr>
              <a:t>zuschalten</a:t>
            </a:r>
          </a:p>
          <a:p>
            <a:pPr marL="285750" indent="-285750">
              <a:buFontTx/>
              <a:buChar char="-"/>
              <a:defRPr/>
            </a:pPr>
            <a:r>
              <a:rPr lang="de-CH" altLang="de-DE" sz="1900" u="sng" dirty="0">
                <a:latin typeface="Arial" panose="020B0604020202020204" pitchFamily="34" charset="0"/>
                <a:cs typeface="Arial" panose="020B0604020202020204" pitchFamily="34" charset="0"/>
              </a:rPr>
              <a:t>Keine</a:t>
            </a:r>
            <a:r>
              <a:rPr lang="de-CH" altLang="de-DE" sz="1900" dirty="0">
                <a:latin typeface="Arial" panose="020B0604020202020204" pitchFamily="34" charset="0"/>
                <a:cs typeface="Arial" panose="020B0604020202020204" pitchFamily="34" charset="0"/>
              </a:rPr>
              <a:t> Nahaufnahmen (Portrait, Befund) mit Weitwinkel</a:t>
            </a:r>
          </a:p>
          <a:p>
            <a:pPr marL="285750" indent="-285750">
              <a:buFontTx/>
              <a:buChar char="-"/>
              <a:defRPr/>
            </a:pPr>
            <a:r>
              <a:rPr lang="de-CH" altLang="de-DE" sz="1900" dirty="0">
                <a:latin typeface="Arial" panose="020B0604020202020204" pitchFamily="34" charset="0"/>
                <a:cs typeface="Arial" panose="020B0604020202020204" pitchFamily="34" charset="0"/>
              </a:rPr>
              <a:t>Formatfüllende Aufnahmen mit </a:t>
            </a:r>
            <a:r>
              <a:rPr lang="de-CH" altLang="de-DE" sz="1900" b="1" dirty="0">
                <a:latin typeface="Arial" panose="020B0604020202020204" pitchFamily="34" charset="0"/>
                <a:cs typeface="Arial" panose="020B0604020202020204" pitchFamily="34" charset="0"/>
              </a:rPr>
              <a:t>Sicherheitsabstand zu den Bildrändern</a:t>
            </a:r>
          </a:p>
          <a:p>
            <a:pPr marL="285750" indent="-285750">
              <a:buFontTx/>
              <a:buChar char="-"/>
              <a:defRPr/>
            </a:pPr>
            <a:r>
              <a:rPr lang="de-CH" altLang="de-DE" sz="1900" b="1" dirty="0">
                <a:latin typeface="Arial" panose="020B0604020202020204" pitchFamily="34" charset="0"/>
                <a:cs typeface="Arial" panose="020B0604020202020204" pitchFamily="34" charset="0"/>
              </a:rPr>
              <a:t>Fokus</a:t>
            </a:r>
            <a:r>
              <a:rPr lang="de-CH" altLang="de-DE" sz="1900" dirty="0">
                <a:latin typeface="Arial" panose="020B0604020202020204" pitchFamily="34" charset="0"/>
                <a:cs typeface="Arial" panose="020B0604020202020204" pitchFamily="34" charset="0"/>
              </a:rPr>
              <a:t> gezielt und kontrolliert einsetzen</a:t>
            </a:r>
            <a:endParaRPr lang="de-CH" altLang="de-DE" sz="1900" b="1" dirty="0">
              <a:latin typeface="Arial" panose="020B0604020202020204" pitchFamily="34" charset="0"/>
              <a:cs typeface="Arial" panose="020B0604020202020204" pitchFamily="34" charset="0"/>
            </a:endParaRPr>
          </a:p>
          <a:p>
            <a:pPr marL="285750" indent="-285750">
              <a:buFontTx/>
              <a:buChar char="-"/>
              <a:defRPr/>
            </a:pPr>
            <a:r>
              <a:rPr lang="de-CH" altLang="de-DE" sz="1900" dirty="0">
                <a:latin typeface="Arial" panose="020B0604020202020204" pitchFamily="34" charset="0"/>
                <a:cs typeface="Arial" panose="020B0604020202020204" pitchFamily="34" charset="0"/>
              </a:rPr>
              <a:t>Selbsterklärende </a:t>
            </a:r>
            <a:r>
              <a:rPr lang="de-CH" altLang="de-DE" sz="1900" b="1" dirty="0">
                <a:latin typeface="Arial" panose="020B0604020202020204" pitchFamily="34" charset="0"/>
                <a:cs typeface="Arial" panose="020B0604020202020204" pitchFamily="34" charset="0"/>
              </a:rPr>
              <a:t>Abbildungsabfolge </a:t>
            </a:r>
            <a:r>
              <a:rPr lang="de-CH" altLang="de-DE" sz="1900" dirty="0">
                <a:latin typeface="Arial" panose="020B0604020202020204" pitchFamily="34" charset="0"/>
                <a:cs typeface="Arial" panose="020B0604020202020204" pitchFamily="34" charset="0"/>
              </a:rPr>
              <a:t>(Übersichts-, dann Detailaufnahme)</a:t>
            </a:r>
            <a:endParaRPr lang="de-CH" altLang="de-DE" sz="1900" b="1" dirty="0">
              <a:latin typeface="Arial" panose="020B0604020202020204" pitchFamily="34" charset="0"/>
              <a:cs typeface="Arial" panose="020B0604020202020204" pitchFamily="34" charset="0"/>
            </a:endParaRPr>
          </a:p>
          <a:p>
            <a:pPr marL="285750" indent="-285750">
              <a:buFontTx/>
              <a:buChar char="-"/>
              <a:defRPr/>
            </a:pPr>
            <a:r>
              <a:rPr lang="de-CH" altLang="de-DE" sz="1900" dirty="0">
                <a:latin typeface="Arial" panose="020B0604020202020204" pitchFamily="34" charset="0"/>
                <a:cs typeface="Arial" panose="020B0604020202020204" pitchFamily="34" charset="0"/>
              </a:rPr>
              <a:t>Massstab und Befund in </a:t>
            </a:r>
            <a:r>
              <a:rPr lang="de-CH" altLang="de-DE" sz="1900" b="1" dirty="0">
                <a:latin typeface="Arial" panose="020B0604020202020204" pitchFamily="34" charset="0"/>
                <a:cs typeface="Arial" panose="020B0604020202020204" pitchFamily="34" charset="0"/>
              </a:rPr>
              <a:t>einer Ebene</a:t>
            </a:r>
            <a:endParaRPr lang="de-CH" altLang="de-DE" sz="1900" dirty="0">
              <a:latin typeface="Arial" panose="020B0604020202020204" pitchFamily="34" charset="0"/>
              <a:cs typeface="Arial" panose="020B0604020202020204" pitchFamily="34" charset="0"/>
            </a:endParaRPr>
          </a:p>
          <a:p>
            <a:pPr marL="0" indent="0">
              <a:buFontTx/>
              <a:buChar char="-"/>
              <a:defRPr/>
            </a:pPr>
            <a:endParaRPr lang="de-CH" altLang="de-DE" dirty="0"/>
          </a:p>
          <a:p>
            <a:pPr marL="0" indent="0">
              <a:buFontTx/>
              <a:buChar char="-"/>
              <a:defRPr/>
            </a:pPr>
            <a:endParaRPr lang="de-CH" altLang="de-DE" dirty="0"/>
          </a:p>
          <a:p>
            <a:pPr marL="0" indent="0">
              <a:buFontTx/>
              <a:buChar char="-"/>
              <a:defRPr/>
            </a:pPr>
            <a:endParaRPr lang="de-CH" altLang="de-DE" dirty="0"/>
          </a:p>
          <a:p>
            <a:pPr marL="0" indent="0">
              <a:buFontTx/>
              <a:buChar char="-"/>
              <a:defRPr/>
            </a:pPr>
            <a:endParaRPr lang="de-CH" altLang="de-DE" dirty="0"/>
          </a:p>
        </p:txBody>
      </p:sp>
      <p:sp>
        <p:nvSpPr>
          <p:cNvPr id="87042" name="Titel 2">
            <a:extLst>
              <a:ext uri="{FF2B5EF4-FFF2-40B4-BE49-F238E27FC236}">
                <a16:creationId xmlns:a16="http://schemas.microsoft.com/office/drawing/2014/main" id="{0D08B7DA-645E-A809-3F01-939CB552D5CA}"/>
              </a:ext>
            </a:extLst>
          </p:cNvPr>
          <p:cNvSpPr>
            <a:spLocks noGrp="1"/>
          </p:cNvSpPr>
          <p:nvPr>
            <p:ph type="title"/>
          </p:nvPr>
        </p:nvSpPr>
        <p:spPr/>
        <p:txBody>
          <a:bodyPr/>
          <a:lstStyle/>
          <a:p>
            <a:pPr algn="ctr"/>
            <a:r>
              <a:rPr lang="de-CH" altLang="de-DE" sz="2800" b="1" dirty="0">
                <a:latin typeface="Arial" panose="020B0604020202020204" pitchFamily="34" charset="0"/>
                <a:cs typeface="Arial" panose="020B0604020202020204" pitchFamily="34" charset="0"/>
              </a:rPr>
              <a:t>Zusammenfassung für die Praxis</a:t>
            </a:r>
          </a:p>
        </p:txBody>
      </p:sp>
    </p:spTree>
  </p:cSld>
  <p:clrMapOvr>
    <a:masterClrMapping/>
  </p:clrMapOvr>
  <p:transition spd="slow" advTm="21690"/>
</p:sld>
</file>

<file path=ppt/tags/tag1.xml><?xml version="1.0" encoding="utf-8"?>
<p:tagLst xmlns:a="http://schemas.openxmlformats.org/drawingml/2006/main" xmlns:r="http://schemas.openxmlformats.org/officeDocument/2006/relationships" xmlns:p="http://schemas.openxmlformats.org/presentationml/2006/main">
  <p:tag name="TIMING" val="|25.2|11"/>
</p:tagLst>
</file>

<file path=ppt/tags/tag2.xml><?xml version="1.0" encoding="utf-8"?>
<p:tagLst xmlns:a="http://schemas.openxmlformats.org/drawingml/2006/main" xmlns:r="http://schemas.openxmlformats.org/officeDocument/2006/relationships" xmlns:p="http://schemas.openxmlformats.org/presentationml/2006/main">
  <p:tag name="TIMING" val="|18.8|5"/>
</p:tagLst>
</file>

<file path=ppt/tags/tag3.xml><?xml version="1.0" encoding="utf-8"?>
<p:tagLst xmlns:a="http://schemas.openxmlformats.org/drawingml/2006/main" xmlns:r="http://schemas.openxmlformats.org/officeDocument/2006/relationships" xmlns:p="http://schemas.openxmlformats.org/presentationml/2006/main">
  <p:tag name="TIMING" val="|19.4|8.7"/>
</p:tagLst>
</file>

<file path=ppt/tags/tag4.xml><?xml version="1.0" encoding="utf-8"?>
<p:tagLst xmlns:a="http://schemas.openxmlformats.org/drawingml/2006/main" xmlns:r="http://schemas.openxmlformats.org/officeDocument/2006/relationships" xmlns:p="http://schemas.openxmlformats.org/presentationml/2006/main">
  <p:tag name="TIMING" val="|8.6"/>
</p:tagLst>
</file>

<file path=ppt/tags/tag5.xml><?xml version="1.0" encoding="utf-8"?>
<p:tagLst xmlns:a="http://schemas.openxmlformats.org/drawingml/2006/main" xmlns:r="http://schemas.openxmlformats.org/officeDocument/2006/relationships" xmlns:p="http://schemas.openxmlformats.org/presentationml/2006/main">
  <p:tag name="TIMING" val="|48.5|1.5"/>
</p:tagLst>
</file>

<file path=ppt/tags/tag6.xml><?xml version="1.0" encoding="utf-8"?>
<p:tagLst xmlns:a="http://schemas.openxmlformats.org/drawingml/2006/main" xmlns:r="http://schemas.openxmlformats.org/officeDocument/2006/relationships" xmlns:p="http://schemas.openxmlformats.org/presentationml/2006/main">
  <p:tag name="TIMING" val="|11.3"/>
</p:tagLst>
</file>

<file path=ppt/tags/tag7.xml><?xml version="1.0" encoding="utf-8"?>
<p:tagLst xmlns:a="http://schemas.openxmlformats.org/drawingml/2006/main" xmlns:r="http://schemas.openxmlformats.org/officeDocument/2006/relationships" xmlns:p="http://schemas.openxmlformats.org/presentationml/2006/main">
  <p:tag name="TIMING" val="|7.5|1.7"/>
</p:tagLst>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1287</Words>
  <PresentationFormat>Breitbild</PresentationFormat>
  <Paragraphs>219</Paragraphs>
  <Slides>26</Slides>
  <Notes>19</Notes>
  <HiddenSlides>0</HiddenSlides>
  <MMClips>16</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Aptos</vt:lpstr>
      <vt:lpstr>Aptos Display</vt:lpstr>
      <vt:lpstr>Arial</vt:lpstr>
      <vt:lpstr>Wingdings</vt:lpstr>
      <vt:lpstr>Office</vt:lpstr>
      <vt:lpstr>Die Forensische Fotodokumentation</vt:lpstr>
      <vt:lpstr>PowerPoint-Präsentation</vt:lpstr>
      <vt:lpstr>Perspektive und Kameraposition - Vermeidung von Bildverzerrungen -</vt:lpstr>
      <vt:lpstr>Bildverzerrung &gt; Stürzende Linien</vt:lpstr>
      <vt:lpstr>Lotrechte Kameraposition zum Befund - Vermeidung von Bildverzerrungen -</vt:lpstr>
      <vt:lpstr>Lotrechte Kameraposition zum Befund - Vermeidung von Bildverzerrungen -</vt:lpstr>
      <vt:lpstr>Merke:</vt:lpstr>
      <vt:lpstr>Perspektive und Kameraposition - Vermeidung stürzender Linien durch lotrechte Zentralperspektive -</vt:lpstr>
      <vt:lpstr>Kameraposition und Schärfenebene</vt:lpstr>
      <vt:lpstr>PowerPoint-Präsentation</vt:lpstr>
      <vt:lpstr>Aktuelles Beispiel</vt:lpstr>
      <vt:lpstr>Selbsterklärende Abbildungsabfolge</vt:lpstr>
      <vt:lpstr>Merke:</vt:lpstr>
      <vt:lpstr>Formatfüllend</vt:lpstr>
      <vt:lpstr>Merke:</vt:lpstr>
      <vt:lpstr>Formatfüllendes Portrait &gt; WW vs. Tele</vt:lpstr>
      <vt:lpstr>Nahaufnahme mit WW   = Tonnenförmige Verzeichnung</vt:lpstr>
      <vt:lpstr>Objektiv-Brennweiten</vt:lpstr>
      <vt:lpstr>PowerPoint-Präsentation</vt:lpstr>
      <vt:lpstr>Merke:</vt:lpstr>
      <vt:lpstr>Licht und Schatten</vt:lpstr>
      <vt:lpstr>Gegenlicht</vt:lpstr>
      <vt:lpstr>Merke:</vt:lpstr>
      <vt:lpstr>Fehlfokussierung</vt:lpstr>
      <vt:lpstr>Merke:</vt:lpstr>
      <vt:lpstr>Zusammenfassung für die Praxis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2026-02-18T15:19:25Z</dcterms:created>
  <dcterms:modified xsi:type="dcterms:W3CDTF">2026-02-19T09:16:52Z</dcterms:modified>
</cp:coreProperties>
</file>